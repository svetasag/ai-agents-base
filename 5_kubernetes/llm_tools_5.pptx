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7" r:id="rId1"/>
    <p:sldMasterId id="2147483698" r:id="rId2"/>
  </p:sldMasterIdLst>
  <p:notesMasterIdLst>
    <p:notesMasterId r:id="rId22"/>
  </p:notesMasterIdLst>
  <p:sldIdLst>
    <p:sldId id="256" r:id="rId3"/>
    <p:sldId id="257" r:id="rId4"/>
    <p:sldId id="379" r:id="rId5"/>
    <p:sldId id="451" r:id="rId6"/>
    <p:sldId id="458" r:id="rId7"/>
    <p:sldId id="452" r:id="rId8"/>
    <p:sldId id="453" r:id="rId9"/>
    <p:sldId id="454" r:id="rId10"/>
    <p:sldId id="459" r:id="rId11"/>
    <p:sldId id="461" r:id="rId12"/>
    <p:sldId id="463" r:id="rId13"/>
    <p:sldId id="464" r:id="rId14"/>
    <p:sldId id="465" r:id="rId15"/>
    <p:sldId id="466" r:id="rId16"/>
    <p:sldId id="460" r:id="rId17"/>
    <p:sldId id="462" r:id="rId18"/>
    <p:sldId id="455" r:id="rId19"/>
    <p:sldId id="456" r:id="rId20"/>
    <p:sldId id="416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"/>
    <p:restoredTop sz="96327"/>
  </p:normalViewPr>
  <p:slideViewPr>
    <p:cSldViewPr snapToGrid="0">
      <p:cViewPr varScale="1">
        <p:scale>
          <a:sx n="151" d="100"/>
          <a:sy n="151" d="100"/>
        </p:scale>
        <p:origin x="192" y="8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cadaca4396_0_0:notes"/>
          <p:cNvSpPr txBox="1">
            <a:spLocks noGrp="1"/>
          </p:cNvSpPr>
          <p:nvPr>
            <p:ph type="body" idx="1"/>
          </p:nvPr>
        </p:nvSpPr>
        <p:spPr>
          <a:xfrm>
            <a:off x="685801" y="4400554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cadaca43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8083246e5_2_228:notes"/>
          <p:cNvSpPr txBox="1">
            <a:spLocks noGrp="1"/>
          </p:cNvSpPr>
          <p:nvPr>
            <p:ph type="body" idx="1"/>
          </p:nvPr>
        </p:nvSpPr>
        <p:spPr>
          <a:xfrm>
            <a:off x="685801" y="4400554"/>
            <a:ext cx="5486400" cy="3600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g2b8083246e5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85498662-F858-8F6B-D7FA-FEB38B2D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be6d63313b_0_94:notes">
            <a:extLst>
              <a:ext uri="{FF2B5EF4-FFF2-40B4-BE49-F238E27FC236}">
                <a16:creationId xmlns:a16="http://schemas.microsoft.com/office/drawing/2014/main" id="{197411D1-6214-951F-AFA1-8A3A8B380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be6d63313b_0_94:notes">
            <a:extLst>
              <a:ext uri="{FF2B5EF4-FFF2-40B4-BE49-F238E27FC236}">
                <a16:creationId xmlns:a16="http://schemas.microsoft.com/office/drawing/2014/main" id="{87B20078-D5DE-5FCE-361F-B5BAD087E0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1017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ACFC6858-DF88-68FA-C6D1-FBAACFA5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5B29E14C-316F-1D15-C2E5-7B80A9D99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9EDF047E-8135-F217-FB74-BF1F637A0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214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BA726469-0D07-A7EC-8E75-2A79C7C8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824AA2C1-64BE-3599-AFFD-72E708D00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F7D3A9EE-DA75-C10D-8B8E-4BF871BE8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692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60C79295-C17C-1BF2-216D-35BCF866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8A349E50-DABC-0F6E-1C0D-FE0D51CEA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358AC499-C281-3A1D-8D18-AF75B060E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40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6BBFCD83-255E-FAC6-53D1-FA28E031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0D4EF113-8588-B8D7-6B61-7B1471246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DD5D523B-65CE-20A0-A91E-B507D11AD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663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A4752E7B-4296-3D03-7DD9-170BE3AB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5D46E730-BA10-E8CB-33B4-85C11FE429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37309462-F68A-B4BB-3B54-C336468B29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8302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9419C733-A0D7-0A77-1A88-C3915DFB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AB591B6A-7694-C542-868B-700F732A55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B0BD7AC9-F872-E08F-CE95-9B1A93A42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743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C3F03240-80A0-9CB8-58F1-1E490D136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9AD60DC2-E913-6339-3433-C0F1752C2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93920579-00B3-397F-AF97-3D64D12BB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618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CEC096D9-B03B-F5F1-FA3B-973131364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223D28EB-5AE3-AD25-4DD2-7B978BD63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AEE7F731-F969-7214-FC44-4C5FB7F51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2918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D118C625-C6CB-6EC0-F4E8-3C107F7A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3E1D3ED7-1FBE-A0C4-EE12-F9E35DE0E4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B7E8C1B2-7B48-C8D5-5315-CF3FB2EB47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73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9AB88EEA-3335-E2FB-4195-476800C9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49E7C3F8-CDAE-5684-57E1-4001F1278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379FA06C-2A87-B01A-1A32-531D62DAF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56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B6CF382A-BBC8-388C-333F-A351ABD55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C850117A-A6FC-81FA-1F84-2076D902D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20482282-E775-F39B-6039-1BCC50DF4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6285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69D9511F-85D7-8229-C33B-6C974487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BBBBC474-048F-9B04-FD3C-F397D1FE8F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775B19D7-CC17-13AF-AC2F-ACC8334BB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5809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35FE6077-3DCE-458A-8080-2C026C0C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D51481EA-A6A1-DAFC-F0D3-B581941F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710005A3-E2C1-EEA7-52A7-2B095260CE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9192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DB4F136A-30AD-F5A7-D97C-5CCC50B1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B2A07CFB-1707-41A9-B87F-E036F51B2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C0CBFE62-C8E1-169B-9555-C78A756545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146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E0E50828-8159-02BF-DBE6-5CD675A3B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e6d63313b_0_87:notes">
            <a:extLst>
              <a:ext uri="{FF2B5EF4-FFF2-40B4-BE49-F238E27FC236}">
                <a16:creationId xmlns:a16="http://schemas.microsoft.com/office/drawing/2014/main" id="{5A430B86-94B5-83CD-9B5D-A369F6C4C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e6d63313b_0_87:notes">
            <a:extLst>
              <a:ext uri="{FF2B5EF4-FFF2-40B4-BE49-F238E27FC236}">
                <a16:creationId xmlns:a16="http://schemas.microsoft.com/office/drawing/2014/main" id="{6F07E9DD-50DB-3441-88EB-4E699CAA2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647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4973FA76-D2F0-5CEB-AD78-D21ED2F8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be6d63313b_0_94:notes">
            <a:extLst>
              <a:ext uri="{FF2B5EF4-FFF2-40B4-BE49-F238E27FC236}">
                <a16:creationId xmlns:a16="http://schemas.microsoft.com/office/drawing/2014/main" id="{A73E78C5-6042-AD29-B9AE-9BC5221C3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be6d63313b_0_94:notes">
            <a:extLst>
              <a:ext uri="{FF2B5EF4-FFF2-40B4-BE49-F238E27FC236}">
                <a16:creationId xmlns:a16="http://schemas.microsoft.com/office/drawing/2014/main" id="{25790C94-142D-32FA-ECD9-C39031C3F4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762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01">
  <p:cSld name="Хаб_0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устой слайд">
  <p:cSld name="1_Пустой слайд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1506141" y="260479"/>
            <a:ext cx="7009209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None/>
              <a:defRPr sz="1500" b="1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260556" y="292894"/>
            <a:ext cx="558403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0_Обложка 1">
  <p:cSld name="10_Обложка 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02">
  <p:cSld name="Хаб_0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Хаб_01">
  <p:cSld name="2_Хаб_0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5_Хаб_01">
  <p:cSld name="15_Хаб_0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6_Хаб_01">
  <p:cSld name="16_Хаб_0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4_Хаб_01">
  <p:cSld name="14_Хаб_0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Хаб_01">
  <p:cSld name="3_Хаб_0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Хаб_01">
  <p:cSld name="4_Хаб_0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Хаб_01">
  <p:cSld name="5_Хаб_0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2"/>
          </p:nvPr>
        </p:nvSpPr>
        <p:spPr>
          <a:xfrm>
            <a:off x="882254" y="4654175"/>
            <a:ext cx="30468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_Хаб_01">
  <p:cSld name="6_Хаб_0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5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Хаб_01">
  <p:cSld name="7_Хаб_0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Хаб_01">
  <p:cSld name="8_Хаб_0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7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9_Хаб_01">
  <p:cSld name="9_Хаб_0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8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0_Хаб_01">
  <p:cSld name="10_Хаб_0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1_Хаб_01">
  <p:cSld name="11_Хаб_0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2_Хаб_01">
  <p:cSld name="12_Хаб_0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Хаб_01">
  <p:cSld name="13_Хаб_0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112366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2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03">
  <p:cSld name="Хаб_0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3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04">
  <p:cSld name="Хаб_04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4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4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4" descr="Изображение выглядит как легкий&#10;&#10;Автоматически созданное описание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4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34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34"/>
          <p:cNvSpPr/>
          <p:nvPr/>
        </p:nvSpPr>
        <p:spPr>
          <a:xfrm rot="10800000"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rgbClr val="0082BB">
                  <a:alpha val="0"/>
                </a:srgbClr>
              </a:gs>
              <a:gs pos="100000">
                <a:srgbClr val="00C4F2">
                  <a:alpha val="15686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05">
  <p:cSld name="Хаб_05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5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5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/>
          <p:nvPr/>
        </p:nvSpPr>
        <p:spPr>
          <a:xfrm rot="10800000"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rgbClr val="0082BB">
                  <a:alpha val="0"/>
                </a:srgbClr>
              </a:gs>
              <a:gs pos="100000">
                <a:srgbClr val="00C4F2">
                  <a:alpha val="15686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06">
  <p:cSld name="Хаб_06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6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6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6"/>
          <p:cNvSpPr/>
          <p:nvPr/>
        </p:nvSpPr>
        <p:spPr>
          <a:xfrm rot="10800000"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rgbClr val="0082BB">
                  <a:alpha val="0"/>
                </a:srgbClr>
              </a:gs>
              <a:gs pos="100000">
                <a:srgbClr val="00C4F2">
                  <a:alpha val="15686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07">
  <p:cSld name="Хаб_07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7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7"/>
          <p:cNvSpPr/>
          <p:nvPr/>
        </p:nvSpPr>
        <p:spPr>
          <a:xfrm rot="10800000"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rgbClr val="0082BB">
                  <a:alpha val="0"/>
                </a:srgbClr>
              </a:gs>
              <a:gs pos="100000">
                <a:srgbClr val="00C4F2">
                  <a:alpha val="15686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08">
  <p:cSld name="Хаб_08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8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8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38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8"/>
          <p:cNvSpPr/>
          <p:nvPr/>
        </p:nvSpPr>
        <p:spPr>
          <a:xfrm rot="10800000"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rgbClr val="0082BB">
                  <a:alpha val="0"/>
                </a:srgbClr>
              </a:gs>
              <a:gs pos="100000">
                <a:srgbClr val="00C4F2">
                  <a:alpha val="15686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09">
  <p:cSld name="Хаб_09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9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9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9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9"/>
          <p:cNvSpPr/>
          <p:nvPr/>
        </p:nvSpPr>
        <p:spPr>
          <a:xfrm rot="10800000"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rgbClr val="0082BB">
                  <a:alpha val="0"/>
                </a:srgbClr>
              </a:gs>
              <a:gs pos="100000">
                <a:srgbClr val="00C4F2">
                  <a:alpha val="15686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10">
  <p:cSld name="Хаб_10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0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0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40" descr="Изображение выглядит как синий&#10;&#10;Автоматически созданное описание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0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40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40"/>
          <p:cNvSpPr/>
          <p:nvPr/>
        </p:nvSpPr>
        <p:spPr>
          <a:xfrm rot="10800000"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rgbClr val="0082BB">
                  <a:alpha val="0"/>
                </a:srgbClr>
              </a:gs>
              <a:gs pos="100000">
                <a:srgbClr val="00C4F2">
                  <a:alpha val="15686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11">
  <p:cSld name="Хаб_1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1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1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1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41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1"/>
          <p:cNvSpPr/>
          <p:nvPr/>
        </p:nvSpPr>
        <p:spPr>
          <a:xfrm rot="10800000"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rgbClr val="0082BB">
                  <a:alpha val="0"/>
                </a:srgbClr>
              </a:gs>
              <a:gs pos="100000">
                <a:srgbClr val="00C4F2">
                  <a:alpha val="15686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Хаб_12">
  <p:cSld name="Хаб_12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2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rgbClr val="1D6BB3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2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2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42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БР_01">
  <p:cSld name="БР_0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3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88A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3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3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3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85" name="Google Shape;185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4432" y="-20262"/>
            <a:ext cx="4569568" cy="517008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3"/>
          <p:cNvSpPr/>
          <p:nvPr/>
        </p:nvSpPr>
        <p:spPr>
          <a:xfrm>
            <a:off x="4574432" y="-77656"/>
            <a:ext cx="4569596" cy="5221156"/>
          </a:xfrm>
          <a:prstGeom prst="rect">
            <a:avLst/>
          </a:prstGeom>
          <a:gradFill>
            <a:gsLst>
              <a:gs pos="0">
                <a:srgbClr val="00C4F2">
                  <a:alpha val="1960"/>
                </a:srgbClr>
              </a:gs>
              <a:gs pos="100000">
                <a:srgbClr val="00C6F8">
                  <a:alpha val="784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БР_02">
  <p:cSld name="БР_02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4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4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4"/>
          <p:cNvSpPr txBox="1">
            <a:spLocks noGrp="1"/>
          </p:cNvSpPr>
          <p:nvPr>
            <p:ph type="body" idx="1"/>
          </p:nvPr>
        </p:nvSpPr>
        <p:spPr>
          <a:xfrm>
            <a:off x="882254" y="2847974"/>
            <a:ext cx="3046808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44"/>
          <p:cNvSpPr txBox="1">
            <a:spLocks noGrp="1"/>
          </p:cNvSpPr>
          <p:nvPr>
            <p:ph type="body" idx="2"/>
          </p:nvPr>
        </p:nvSpPr>
        <p:spPr>
          <a:xfrm>
            <a:off x="882254" y="4654174"/>
            <a:ext cx="3046808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БР_03">
  <p:cSld name="БР_03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5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5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5"/>
          <p:cNvSpPr txBox="1">
            <a:spLocks noGrp="1"/>
          </p:cNvSpPr>
          <p:nvPr>
            <p:ph type="body" idx="1"/>
          </p:nvPr>
        </p:nvSpPr>
        <p:spPr>
          <a:xfrm>
            <a:off x="4652963" y="2847974"/>
            <a:ext cx="3444479" cy="158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45"/>
          <p:cNvSpPr txBox="1">
            <a:spLocks noGrp="1"/>
          </p:cNvSpPr>
          <p:nvPr>
            <p:ph type="body" idx="2"/>
          </p:nvPr>
        </p:nvSpPr>
        <p:spPr>
          <a:xfrm>
            <a:off x="4652963" y="4654174"/>
            <a:ext cx="3444479" cy="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азделитель слайдов 1">
  <p:cSld name="Разделитель слайдов 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6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6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>
            <a:spLocks noGrp="1"/>
          </p:cNvSpPr>
          <p:nvPr>
            <p:ph type="body" idx="1"/>
          </p:nvPr>
        </p:nvSpPr>
        <p:spPr>
          <a:xfrm>
            <a:off x="4652962" y="2847974"/>
            <a:ext cx="4165997" cy="201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body" idx="2"/>
          </p:nvPr>
        </p:nvSpPr>
        <p:spPr>
          <a:xfrm>
            <a:off x="4652963" y="1478756"/>
            <a:ext cx="4165997" cy="81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body" idx="3"/>
          </p:nvPr>
        </p:nvSpPr>
        <p:spPr>
          <a:xfrm>
            <a:off x="300633" y="1807369"/>
            <a:ext cx="2023467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0"/>
              <a:buNone/>
              <a:defRPr sz="113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ключительный слайд">
  <p:cSld name="Заключительный слайд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7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7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7"/>
          <p:cNvSpPr txBox="1">
            <a:spLocks noGrp="1"/>
          </p:cNvSpPr>
          <p:nvPr>
            <p:ph type="body" idx="1"/>
          </p:nvPr>
        </p:nvSpPr>
        <p:spPr>
          <a:xfrm>
            <a:off x="4653557" y="2883694"/>
            <a:ext cx="4327922" cy="197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  <a:defRPr sz="1100" cap="none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47"/>
          <p:cNvSpPr txBox="1">
            <a:spLocks noGrp="1"/>
          </p:cNvSpPr>
          <p:nvPr>
            <p:ph type="body" idx="2"/>
          </p:nvPr>
        </p:nvSpPr>
        <p:spPr>
          <a:xfrm>
            <a:off x="4652962" y="828676"/>
            <a:ext cx="4165997" cy="147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ключительный слайд 2">
  <p:cSld name="Заключительный слайд 2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8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8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8"/>
          <p:cNvSpPr txBox="1">
            <a:spLocks noGrp="1"/>
          </p:cNvSpPr>
          <p:nvPr>
            <p:ph type="body" idx="1"/>
          </p:nvPr>
        </p:nvSpPr>
        <p:spPr>
          <a:xfrm>
            <a:off x="325042" y="3133724"/>
            <a:ext cx="8493918" cy="172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  <a:defRPr sz="1100" cap="none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Пустой слайд">
  <p:cSld name="8_Пустой слайд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9"/>
          <p:cNvSpPr txBox="1">
            <a:spLocks noGrp="1"/>
          </p:cNvSpPr>
          <p:nvPr>
            <p:ph type="title"/>
          </p:nvPr>
        </p:nvSpPr>
        <p:spPr>
          <a:xfrm>
            <a:off x="311461" y="769522"/>
            <a:ext cx="8493919" cy="45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49"/>
          <p:cNvSpPr txBox="1">
            <a:spLocks noGrp="1"/>
          </p:cNvSpPr>
          <p:nvPr>
            <p:ph type="ftr" idx="11"/>
          </p:nvPr>
        </p:nvSpPr>
        <p:spPr>
          <a:xfrm>
            <a:off x="1768079" y="285750"/>
            <a:ext cx="6329363" cy="2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49"/>
          <p:cNvSpPr txBox="1">
            <a:spLocks noGrp="1"/>
          </p:cNvSpPr>
          <p:nvPr>
            <p:ph type="sldNum" idx="12"/>
          </p:nvPr>
        </p:nvSpPr>
        <p:spPr>
          <a:xfrm>
            <a:off x="8260556" y="285751"/>
            <a:ext cx="558403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221" name="Google Shape;221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2286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2286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marL="1828800" lvl="3" indent="-2286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marL="2286000" lvl="4" indent="-2286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222" name="Google Shape;222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218" name="Google Shape;21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36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25040" y="830629"/>
            <a:ext cx="8493919" cy="45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28615" y="1481739"/>
            <a:ext cx="8490345" cy="207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1768079" y="285750"/>
            <a:ext cx="6329363" cy="2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260556" y="285751"/>
            <a:ext cx="558403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55" name="Google Shape;55;p13"/>
          <p:cNvCxnSpPr/>
          <p:nvPr/>
        </p:nvCxnSpPr>
        <p:spPr>
          <a:xfrm>
            <a:off x="325041" y="650081"/>
            <a:ext cx="84939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6" r:id="rId37"/>
    <p:sldLayoutId id="2147483699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35">
          <p15:clr>
            <a:srgbClr val="F26B43"/>
          </p15:clr>
        </p15:guide>
        <p15:guide id="2" pos="5555">
          <p15:clr>
            <a:srgbClr val="F26B43"/>
          </p15:clr>
        </p15:guide>
        <p15:guide id="3" pos="205">
          <p15:clr>
            <a:srgbClr val="F26B43"/>
          </p15:clr>
        </p15:guide>
        <p15:guide id="4" orient="horz" pos="174">
          <p15:clr>
            <a:srgbClr val="F26B43"/>
          </p15:clr>
        </p15:guide>
        <p15:guide id="5" pos="659">
          <p15:clr>
            <a:srgbClr val="F26B43"/>
          </p15:clr>
        </p15:guide>
        <p15:guide id="6" pos="556">
          <p15:clr>
            <a:srgbClr val="F26B43"/>
          </p15:clr>
        </p15:guide>
        <p15:guide id="7" pos="1026">
          <p15:clr>
            <a:srgbClr val="F26B43"/>
          </p15:clr>
        </p15:guide>
        <p15:guide id="8" pos="1114">
          <p15:clr>
            <a:srgbClr val="F26B43"/>
          </p15:clr>
        </p15:guide>
        <p15:guide id="9" pos="1464">
          <p15:clr>
            <a:srgbClr val="F26B43"/>
          </p15:clr>
        </p15:guide>
        <p15:guide id="10" pos="1567">
          <p15:clr>
            <a:srgbClr val="F26B43"/>
          </p15:clr>
        </p15:guide>
        <p15:guide id="11" pos="1910">
          <p15:clr>
            <a:srgbClr val="F26B43"/>
          </p15:clr>
        </p15:guide>
        <p15:guide id="12" pos="2022">
          <p15:clr>
            <a:srgbClr val="F26B43"/>
          </p15:clr>
        </p15:guide>
        <p15:guide id="13" pos="2374">
          <p15:clr>
            <a:srgbClr val="F26B43"/>
          </p15:clr>
        </p15:guide>
        <p15:guide id="14" pos="2475">
          <p15:clr>
            <a:srgbClr val="F26B43"/>
          </p15:clr>
        </p15:guide>
        <p15:guide id="15" pos="2829">
          <p15:clr>
            <a:srgbClr val="F26B43"/>
          </p15:clr>
        </p15:guide>
        <p15:guide id="16" pos="2931">
          <p15:clr>
            <a:srgbClr val="F26B43"/>
          </p15:clr>
        </p15:guide>
        <p15:guide id="17" pos="3283">
          <p15:clr>
            <a:srgbClr val="F26B43"/>
          </p15:clr>
        </p15:guide>
        <p15:guide id="18" pos="3384">
          <p15:clr>
            <a:srgbClr val="F26B43"/>
          </p15:clr>
        </p15:guide>
        <p15:guide id="19" pos="3739">
          <p15:clr>
            <a:srgbClr val="F26B43"/>
          </p15:clr>
        </p15:guide>
        <p15:guide id="20" pos="3839">
          <p15:clr>
            <a:srgbClr val="F26B43"/>
          </p15:clr>
        </p15:guide>
        <p15:guide id="21" pos="4192">
          <p15:clr>
            <a:srgbClr val="F26B43"/>
          </p15:clr>
        </p15:guide>
        <p15:guide id="22" pos="4295">
          <p15:clr>
            <a:srgbClr val="F26B43"/>
          </p15:clr>
        </p15:guide>
        <p15:guide id="23" pos="4646">
          <p15:clr>
            <a:srgbClr val="F26B43"/>
          </p15:clr>
        </p15:guide>
        <p15:guide id="24" pos="4751">
          <p15:clr>
            <a:srgbClr val="F26B43"/>
          </p15:clr>
        </p15:guide>
        <p15:guide id="25" pos="5101">
          <p15:clr>
            <a:srgbClr val="F26B43"/>
          </p15:clr>
        </p15:guide>
        <p15:guide id="26" pos="5203">
          <p15:clr>
            <a:srgbClr val="F26B43"/>
          </p15:clr>
        </p15:guide>
        <p15:guide id="27" orient="horz" pos="1620">
          <p15:clr>
            <a:srgbClr val="F26B43"/>
          </p15:clr>
        </p15:guide>
        <p15:guide id="28" orient="horz" pos="522">
          <p15:clr>
            <a:srgbClr val="F26B43"/>
          </p15:clr>
        </p15:guide>
        <p15:guide id="29" orient="horz" pos="931">
          <p15:clr>
            <a:srgbClr val="F26B43"/>
          </p15:clr>
        </p15:guide>
        <p15:guide id="30" orient="horz" pos="810">
          <p15:clr>
            <a:srgbClr val="F26B43"/>
          </p15:clr>
        </p15:guide>
        <p15:guide id="31" orient="horz" pos="29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ocker.com" TargetMode="External"/><Relationship Id="rId7" Type="http://schemas.openxmlformats.org/officeDocument/2006/relationships/hyperlink" Target="https://containerd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9.xml"/><Relationship Id="rId6" Type="http://schemas.openxmlformats.org/officeDocument/2006/relationships/hyperlink" Target="https://podman.io/" TargetMode="External"/><Relationship Id="rId5" Type="http://schemas.openxmlformats.org/officeDocument/2006/relationships/hyperlink" Target="https://coreos.com/rkt/" TargetMode="External"/><Relationship Id="rId4" Type="http://schemas.openxmlformats.org/officeDocument/2006/relationships/hyperlink" Target="https://docker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2"/>
          <p:cNvSpPr txBox="1">
            <a:spLocks noGrp="1"/>
          </p:cNvSpPr>
          <p:nvPr>
            <p:ph type="body" idx="1"/>
          </p:nvPr>
        </p:nvSpPr>
        <p:spPr>
          <a:xfrm>
            <a:off x="882250" y="1108050"/>
            <a:ext cx="8261700" cy="29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3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3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br>
              <a:rPr lang="ru" sz="3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LLM: </a:t>
            </a:r>
            <a:r>
              <a:rPr lang="ru-RU" sz="3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создание и интеграция </a:t>
            </a:r>
            <a:r>
              <a:rPr lang="ru-RU" sz="30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интеллектуальных ассистентов</a:t>
            </a:r>
            <a:endParaRPr lang="en-GB" sz="3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br>
              <a:rPr lang="en-GB" sz="3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Чернов Евгений</a:t>
            </a:r>
            <a:endParaRPr lang="en-GB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8" name="Google Shape;228;p52"/>
          <p:cNvSpPr txBox="1">
            <a:spLocks noGrp="1"/>
          </p:cNvSpPr>
          <p:nvPr>
            <p:ph type="body" idx="2"/>
          </p:nvPr>
        </p:nvSpPr>
        <p:spPr>
          <a:xfrm>
            <a:off x="882254" y="4654175"/>
            <a:ext cx="30468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ru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229;p52">
            <a:extLst>
              <a:ext uri="{FF2B5EF4-FFF2-40B4-BE49-F238E27FC236}">
                <a16:creationId xmlns:a16="http://schemas.microsoft.com/office/drawing/2014/main" id="{99E46CC1-8699-0AFA-9EDB-5A01F4803F07}"/>
              </a:ext>
            </a:extLst>
          </p:cNvPr>
          <p:cNvSpPr txBox="1">
            <a:spLocks/>
          </p:cNvSpPr>
          <p:nvPr/>
        </p:nvSpPr>
        <p:spPr>
          <a:xfrm>
            <a:off x="4749553" y="4545367"/>
            <a:ext cx="7120786" cy="128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@</a:t>
            </a:r>
            <a:r>
              <a:rPr lang="en-US" sz="1400" b="0" dirty="0" err="1">
                <a:latin typeface="Calibri" panose="020F0502020204030204" pitchFamily="34" charset="0"/>
                <a:cs typeface="Calibri" panose="020F0502020204030204" pitchFamily="34" charset="0"/>
              </a:rPr>
              <a:t>awe_eu</a:t>
            </a:r>
            <a:endParaRPr lang="ru-RU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3"/>
          <p:cNvSpPr txBox="1"/>
          <p:nvPr/>
        </p:nvSpPr>
        <p:spPr>
          <a:xfrm>
            <a:off x="261257" y="700750"/>
            <a:ext cx="8571043" cy="392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>
              <a:lnSpc>
                <a:spcPct val="115000"/>
              </a:lnSpc>
              <a:buClr>
                <a:srgbClr val="595959"/>
              </a:buClr>
              <a:buSzPts val="1800"/>
            </a:pPr>
            <a:r>
              <a:rPr lang="en-US" sz="1800" b="1" u="sng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1 - </a:t>
            </a:r>
            <a:r>
              <a:rPr lang="ru-RU" sz="1800" b="1" u="sng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Элементы промышленной разработки для </a:t>
            </a:r>
            <a:r>
              <a:rPr lang="en-US" sz="1800" b="1" u="sng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ML-</a:t>
            </a:r>
            <a:r>
              <a:rPr lang="ru-RU" sz="1800" b="1" u="sng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инженера</a:t>
            </a:r>
            <a:endParaRPr lang="en-US" sz="1800" b="1" u="sng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457200" indent="-342900">
              <a:lnSpc>
                <a:spcPct val="115000"/>
              </a:lnSpc>
              <a:buClr>
                <a:srgbClr val="595959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1.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1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– LLM 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проект: основные этапы и инструменты</a:t>
            </a:r>
            <a:endParaRPr lang="en-GB" sz="1800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1.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2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– 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Сетевое взаимодействие, модели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OSI 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и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TCP/IP</a:t>
            </a:r>
          </a:p>
          <a:p>
            <a:pPr marL="457200" lvl="0" indent="-342900">
              <a:lnSpc>
                <a:spcPct val="115000"/>
              </a:lnSpc>
              <a:buClr>
                <a:srgbClr val="595959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1.3 –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Разработка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API c 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использованием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L7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HTTP,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gRPC</a:t>
            </a:r>
            <a:endParaRPr lang="ru-RU" sz="1800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1.4 – 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Контейнеризация и виртуализация</a:t>
            </a:r>
            <a:endParaRPr lang="en-US" sz="1800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42900">
              <a:lnSpc>
                <a:spcPct val="115000"/>
              </a:lnSpc>
              <a:buClr>
                <a:srgbClr val="595959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1.5 – </a:t>
            </a:r>
            <a:r>
              <a:rPr lang="ru-RU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Основы </a:t>
            </a:r>
            <a:r>
              <a:rPr lang="en-US"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k8s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</a:pPr>
            <a:r>
              <a:rPr lang="en-US" sz="1800" b="1" u="sng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2 – </a:t>
            </a:r>
            <a:r>
              <a:rPr lang="ru-RU" sz="1800" b="1" u="sng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Обучение и инференс </a:t>
            </a:r>
            <a:r>
              <a:rPr lang="en-US" sz="1800" b="1" u="sng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LLM </a:t>
            </a:r>
            <a:r>
              <a:rPr lang="ru-RU" sz="1800" b="1" u="sng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на </a:t>
            </a:r>
            <a:r>
              <a:rPr lang="en-US" sz="1800" b="1" u="sng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GPU</a:t>
            </a:r>
          </a:p>
          <a:p>
            <a:pPr marL="457200" indent="-342900">
              <a:lnSpc>
                <a:spcPct val="115000"/>
              </a:lnSpc>
              <a:buClr>
                <a:srgbClr val="595959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2.1 – 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Архитектура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GPU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2.2 – 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Эффективная утилизация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GPU</a:t>
            </a:r>
            <a:endParaRPr lang="ru-RU" sz="1800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457200" lvl="0" indent="-342900">
              <a:lnSpc>
                <a:spcPct val="115000"/>
              </a:lnSpc>
              <a:buClr>
                <a:srgbClr val="595959"/>
              </a:buClr>
              <a:buSzPts val="1800"/>
              <a:buFont typeface="Calibri"/>
              <a:buChar char="●"/>
            </a:pP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2.3 – Инструменты и фреймворки деплоя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LLM</a:t>
            </a:r>
            <a:endParaRPr lang="ru-RU" sz="1800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457200" lvl="0" indent="-342900">
              <a:lnSpc>
                <a:spcPct val="115000"/>
              </a:lnSpc>
              <a:buClr>
                <a:srgbClr val="595959"/>
              </a:buClr>
              <a:buSzPts val="1800"/>
              <a:buFont typeface="Calibri"/>
              <a:buChar char="●"/>
            </a:pP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.4 – 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Разработка </a:t>
            </a:r>
            <a:r>
              <a:rPr lang="ru-RU" sz="1800" dirty="0" err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реалтайм</a:t>
            </a:r>
            <a:r>
              <a:rPr lang="ru-RU" sz="1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сервис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Google Shape;263;p57">
            <a:extLst>
              <a:ext uri="{FF2B5EF4-FFF2-40B4-BE49-F238E27FC236}">
                <a16:creationId xmlns:a16="http://schemas.microsoft.com/office/drawing/2014/main" id="{7F1129EC-0730-9D3E-85CC-31FB4E45F7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7425" y="179200"/>
            <a:ext cx="7084244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Что нас ждет и план занятий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BF3DC6B2-2AE7-C8B7-4117-65D6A43A6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7">
            <a:extLst>
              <a:ext uri="{FF2B5EF4-FFF2-40B4-BE49-F238E27FC236}">
                <a16:creationId xmlns:a16="http://schemas.microsoft.com/office/drawing/2014/main" id="{1D7C9CB7-CE46-37AA-03EB-E8406B003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0535" y="2937621"/>
            <a:ext cx="6594311" cy="15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Лекция 1</a:t>
            </a:r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.5</a:t>
            </a:r>
            <a:endParaRPr lang="en-GB" sz="16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1474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CFE8E725-A1EE-A348-8276-BA288240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E4617691-45FF-451B-81E4-7E6999FD4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sp>
        <p:nvSpPr>
          <p:cNvPr id="2" name="Google Shape;333;p67">
            <a:extLst>
              <a:ext uri="{FF2B5EF4-FFF2-40B4-BE49-F238E27FC236}">
                <a16:creationId xmlns:a16="http://schemas.microsoft.com/office/drawing/2014/main" id="{54350190-D601-70F0-6D36-E1403B230928}"/>
              </a:ext>
            </a:extLst>
          </p:cNvPr>
          <p:cNvSpPr txBox="1">
            <a:spLocks/>
          </p:cNvSpPr>
          <p:nvPr/>
        </p:nvSpPr>
        <p:spPr>
          <a:xfrm>
            <a:off x="774617" y="1046602"/>
            <a:ext cx="7702409" cy="347921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ru-RU" sz="1600" dirty="0"/>
              <a:t>Представьте, что необходима система, которая поддерживает</a:t>
            </a:r>
          </a:p>
          <a:p>
            <a:pPr marL="457200" lvl="0" indent="-342900">
              <a:spcBef>
                <a:spcPts val="1600"/>
              </a:spcBef>
              <a:buSzPts val="1800"/>
              <a:buFont typeface="Arial" panose="020B0604020202020204" pitchFamily="34" charset="0"/>
              <a:buChar char="•"/>
            </a:pPr>
            <a:r>
              <a:rPr lang="ru-RU" sz="1600" dirty="0"/>
              <a:t>балансировка ресурсов</a:t>
            </a:r>
          </a:p>
          <a:p>
            <a:pPr marL="457200" lvl="0" indent="-342900">
              <a:buSzPts val="1800"/>
              <a:buFont typeface="Arial" panose="020B0604020202020204" pitchFamily="34" charset="0"/>
              <a:buChar char="•"/>
            </a:pPr>
            <a:r>
              <a:rPr lang="ru-RU" sz="1600" dirty="0"/>
              <a:t>обновление системы</a:t>
            </a:r>
          </a:p>
          <a:p>
            <a:pPr marL="457200" lvl="0" indent="-342900">
              <a:buSzPts val="1800"/>
              <a:buFont typeface="Arial" panose="020B0604020202020204" pitchFamily="34" charset="0"/>
              <a:buChar char="•"/>
            </a:pPr>
            <a:r>
              <a:rPr lang="ru-RU" sz="1600" dirty="0"/>
              <a:t>отказоустойчивость</a:t>
            </a:r>
          </a:p>
          <a:p>
            <a:pPr marL="457200" lvl="0" indent="-342900">
              <a:buSzPts val="1800"/>
              <a:buFont typeface="Arial" panose="020B0604020202020204" pitchFamily="34" charset="0"/>
              <a:buChar char="•"/>
            </a:pPr>
            <a:r>
              <a:rPr lang="ru-RU" sz="1600" dirty="0"/>
              <a:t>изолированность</a:t>
            </a:r>
          </a:p>
          <a:p>
            <a:pPr lvl="0">
              <a:spcBef>
                <a:spcPts val="1600"/>
              </a:spcBef>
            </a:pPr>
            <a:r>
              <a:rPr lang="ru-RU" sz="1600" dirty="0"/>
              <a:t>Во что может </a:t>
            </a:r>
            <a:r>
              <a:rPr lang="en-GB" sz="1600" dirty="0"/>
              <a:t>Docker?</a:t>
            </a:r>
          </a:p>
          <a:p>
            <a:pPr lvl="0">
              <a:spcBef>
                <a:spcPts val="1600"/>
              </a:spcBef>
            </a:pPr>
            <a:r>
              <a:rPr lang="ru-RU" sz="1600" dirty="0"/>
              <a:t>Только в изолированность!</a:t>
            </a:r>
          </a:p>
        </p:txBody>
      </p:sp>
    </p:spTree>
    <p:extLst>
      <p:ext uri="{BB962C8B-B14F-4D97-AF65-F5344CB8AC3E}">
        <p14:creationId xmlns:p14="http://schemas.microsoft.com/office/powerpoint/2010/main" val="205125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4A071F51-BE57-DC8C-4235-56C345CED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0E75E2A6-ACE0-EBA7-A398-966B72475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75AC76-92D2-0B64-89B4-7A7F9FBD31A4}"/>
              </a:ext>
            </a:extLst>
          </p:cNvPr>
          <p:cNvSpPr txBox="1"/>
          <p:nvPr/>
        </p:nvSpPr>
        <p:spPr>
          <a:xfrm>
            <a:off x="411981" y="892366"/>
            <a:ext cx="8140347" cy="3703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система для автоматизации деплоя, масштабирования и управления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контейнеризированных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ресурсов.</a:t>
            </a:r>
          </a:p>
          <a:p>
            <a:pPr lvl="0">
              <a:spcBef>
                <a:spcPts val="1600"/>
              </a:spcBef>
            </a:pPr>
            <a:r>
              <a:rPr lang="ru-RU" sz="1600" b="1" dirty="0">
                <a:latin typeface="Calibri" panose="020F0502020204030204" pitchFamily="34" charset="0"/>
                <a:cs typeface="Calibri" panose="020F0502020204030204" pitchFamily="34" charset="0"/>
              </a:rPr>
              <a:t>Поддерживаются контейнеры:</a:t>
            </a:r>
          </a:p>
          <a:p>
            <a:pPr marL="400050" lvl="0" indent="-285750">
              <a:spcBef>
                <a:spcPts val="1600"/>
              </a:spcBef>
              <a:buSzPts val="1800"/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docker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–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n-GB" sz="1600" u="sng" dirty="0">
                <a:solidFill>
                  <a:schemeClr val="hlink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docker.com/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rkt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GB" sz="1600" u="sng" dirty="0">
                <a:solidFill>
                  <a:schemeClr val="hlink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https://coreos.com/rkt/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podman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https://podman.io/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containerd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https://containerd.io/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>
              <a:buSzPts val="1800"/>
            </a:pP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525" lvl="0">
              <a:buSzPts val="1800"/>
            </a:pPr>
            <a:r>
              <a:rPr lang="ru-RU" sz="1600" b="1" dirty="0">
                <a:latin typeface="Calibri" panose="020F0502020204030204" pitchFamily="34" charset="0"/>
                <a:cs typeface="Calibri" panose="020F0502020204030204" pitchFamily="34" charset="0"/>
              </a:rPr>
              <a:t>Как запускать?</a:t>
            </a:r>
            <a:endParaRPr lang="en-GB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Качаем </a:t>
            </a: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minikube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Поднимаем дистрибутив (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k3s)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Поднимаем в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YC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через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terraform/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меню администратора</a:t>
            </a:r>
          </a:p>
          <a:p>
            <a:endParaRPr lang="en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24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42A471D6-E818-A54E-4C21-78CE0440B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35F14EE0-2931-DB3C-4C50-90961D97BC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pic>
        <p:nvPicPr>
          <p:cNvPr id="1026" name="Picture 2" descr="Docker Kubernetes together">
            <a:extLst>
              <a:ext uri="{FF2B5EF4-FFF2-40B4-BE49-F238E27FC236}">
                <a16:creationId xmlns:a16="http://schemas.microsoft.com/office/drawing/2014/main" id="{941F5CA0-AF15-A65F-EC59-6AB3AB8A0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13" y="751900"/>
            <a:ext cx="7689773" cy="432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61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DFD79FD6-DE86-F570-82A5-30C68FDFB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5C4E30DA-712D-BCC9-584B-D6DC32DB1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4CF9C-B57B-50F8-B212-4F30262B4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157" y="751900"/>
            <a:ext cx="5607577" cy="4378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AD92C2-19DE-4840-CB94-1E66C06CA6F5}"/>
              </a:ext>
            </a:extLst>
          </p:cNvPr>
          <p:cNvSpPr txBox="1"/>
          <p:nvPr/>
        </p:nvSpPr>
        <p:spPr>
          <a:xfrm>
            <a:off x="180628" y="87863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600" dirty="0"/>
              <a:t>Как админ получает доступ к</a:t>
            </a:r>
            <a:r>
              <a:rPr lang="en-US" sz="1600" dirty="0"/>
              <a:t> </a:t>
            </a:r>
          </a:p>
          <a:p>
            <a:pPr lvl="0"/>
            <a:r>
              <a:rPr lang="ru-RU" sz="1600" dirty="0"/>
              <a:t>сервисам в </a:t>
            </a:r>
            <a:r>
              <a:rPr lang="en-US" sz="1600" dirty="0"/>
              <a:t>k8s?</a:t>
            </a:r>
            <a:r>
              <a:rPr lang="ru-RU" sz="1600" dirty="0"/>
              <a:t> Как управляется </a:t>
            </a:r>
            <a:r>
              <a:rPr lang="en-US" sz="1600" dirty="0"/>
              <a:t>k8s?</a:t>
            </a:r>
            <a:endParaRPr lang="ru-RU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86AE5D-48A4-1A24-E4A0-7AC1E4BC7E27}"/>
              </a:ext>
            </a:extLst>
          </p:cNvPr>
          <p:cNvSpPr txBox="1"/>
          <p:nvPr/>
        </p:nvSpPr>
        <p:spPr>
          <a:xfrm>
            <a:off x="1108135" y="2156252"/>
            <a:ext cx="177802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ru-RU" sz="1050" dirty="0"/>
              <a:t>состояние кластера (что-где лежит)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C4B06-F503-D62D-B5B8-622E2AD9C902}"/>
              </a:ext>
            </a:extLst>
          </p:cNvPr>
          <p:cNvSpPr txBox="1"/>
          <p:nvPr/>
        </p:nvSpPr>
        <p:spPr>
          <a:xfrm>
            <a:off x="1200575" y="2687095"/>
            <a:ext cx="16855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ru-RU" sz="1050" dirty="0"/>
              <a:t>поддержка состояний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1DE4D-739F-9647-D2A2-927E047F0468}"/>
              </a:ext>
            </a:extLst>
          </p:cNvPr>
          <p:cNvSpPr txBox="1"/>
          <p:nvPr/>
        </p:nvSpPr>
        <p:spPr>
          <a:xfrm>
            <a:off x="1200575" y="3126265"/>
            <a:ext cx="16855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ru-RU" sz="1050" dirty="0"/>
              <a:t>куда поставить </a:t>
            </a:r>
            <a:r>
              <a:rPr lang="en-US" sz="1050" dirty="0"/>
              <a:t>pod</a:t>
            </a:r>
            <a:endParaRPr lang="ru-RU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01179-DED6-0E00-75A5-7793C72D2FD8}"/>
              </a:ext>
            </a:extLst>
          </p:cNvPr>
          <p:cNvSpPr txBox="1"/>
          <p:nvPr/>
        </p:nvSpPr>
        <p:spPr>
          <a:xfrm>
            <a:off x="2180857" y="4351078"/>
            <a:ext cx="26700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ru-RU" sz="1050" dirty="0"/>
              <a:t>управляет исполнением на ноде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B09BD-F6B5-3E64-369F-E4F7ED76D3D9}"/>
              </a:ext>
            </a:extLst>
          </p:cNvPr>
          <p:cNvSpPr txBox="1"/>
          <p:nvPr/>
        </p:nvSpPr>
        <p:spPr>
          <a:xfrm>
            <a:off x="1937853" y="3874278"/>
            <a:ext cx="29956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ru-RU" sz="1050" dirty="0"/>
              <a:t>ничего не знает о </a:t>
            </a:r>
            <a:r>
              <a:rPr lang="en-US" sz="1050" dirty="0"/>
              <a:t>k8s</a:t>
            </a:r>
            <a:r>
              <a:rPr lang="ru-RU" sz="1050" dirty="0"/>
              <a:t>,</a:t>
            </a:r>
            <a:r>
              <a:rPr lang="en-US" sz="1050" dirty="0"/>
              <a:t> </a:t>
            </a:r>
            <a:r>
              <a:rPr lang="ru-RU" sz="1050" dirty="0"/>
              <a:t>выполняет команды с контейнерами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2AB5A-316A-2541-CF12-E94666AA99E9}"/>
              </a:ext>
            </a:extLst>
          </p:cNvPr>
          <p:cNvSpPr txBox="1"/>
          <p:nvPr/>
        </p:nvSpPr>
        <p:spPr>
          <a:xfrm>
            <a:off x="5884333" y="312626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1486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AF2F902D-8992-D89C-B8C9-C7DA2AEE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D9BE76A6-F10F-B646-B48C-5D7ECFB26B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pic>
        <p:nvPicPr>
          <p:cNvPr id="3074" name="Picture 2" descr="Comprendre Kubernetes Ingress : Plongée dans le vrai Load-balancer">
            <a:extLst>
              <a:ext uri="{FF2B5EF4-FFF2-40B4-BE49-F238E27FC236}">
                <a16:creationId xmlns:a16="http://schemas.microsoft.com/office/drawing/2014/main" id="{7ED27790-7B32-785E-4DAE-1F2191751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338" y="751900"/>
            <a:ext cx="4223324" cy="4415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333;p67">
            <a:extLst>
              <a:ext uri="{FF2B5EF4-FFF2-40B4-BE49-F238E27FC236}">
                <a16:creationId xmlns:a16="http://schemas.microsoft.com/office/drawing/2014/main" id="{96C32FDD-871B-C3F6-5A98-035EC25DC0CD}"/>
              </a:ext>
            </a:extLst>
          </p:cNvPr>
          <p:cNvSpPr txBox="1">
            <a:spLocks/>
          </p:cNvSpPr>
          <p:nvPr/>
        </p:nvSpPr>
        <p:spPr>
          <a:xfrm>
            <a:off x="411982" y="1324600"/>
            <a:ext cx="3103320" cy="87033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ru-RU" sz="1600" dirty="0"/>
              <a:t>Как клиент получает доступ к</a:t>
            </a:r>
            <a:r>
              <a:rPr lang="en-US" sz="1600" dirty="0"/>
              <a:t> </a:t>
            </a:r>
          </a:p>
          <a:p>
            <a:pPr lvl="0"/>
            <a:r>
              <a:rPr lang="ru-RU" sz="1600" dirty="0"/>
              <a:t>сервисам в </a:t>
            </a:r>
            <a:r>
              <a:rPr lang="en-US" sz="1600" dirty="0"/>
              <a:t>k8s?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45089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559CA8BD-F6E4-C219-299D-B3713F65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C2111D37-F4F2-E9D7-F3C7-EE3EA7F2EA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sp>
        <p:nvSpPr>
          <p:cNvPr id="2" name="Google Shape;124;p24">
            <a:extLst>
              <a:ext uri="{FF2B5EF4-FFF2-40B4-BE49-F238E27FC236}">
                <a16:creationId xmlns:a16="http://schemas.microsoft.com/office/drawing/2014/main" id="{931352BE-9F25-13EB-3895-83851D6F7F3C}"/>
              </a:ext>
            </a:extLst>
          </p:cNvPr>
          <p:cNvSpPr txBox="1">
            <a:spLocks/>
          </p:cNvSpPr>
          <p:nvPr/>
        </p:nvSpPr>
        <p:spPr>
          <a:xfrm>
            <a:off x="311699" y="858900"/>
            <a:ext cx="8391625" cy="3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– атомарная единица представления информации в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k8s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oogle Shape;105;p21">
            <a:extLst>
              <a:ext uri="{FF2B5EF4-FFF2-40B4-BE49-F238E27FC236}">
                <a16:creationId xmlns:a16="http://schemas.microsoft.com/office/drawing/2014/main" id="{D6C3E256-96AB-B3CA-76DF-46FAD4AAB47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651" y="1680125"/>
            <a:ext cx="6061650" cy="2711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488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F4232EE8-10E4-2AFD-5A01-DE8C6789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E5C4FC04-184F-9969-5D7A-5B9A03650C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sp>
        <p:nvSpPr>
          <p:cNvPr id="2" name="Google Shape;124;p24">
            <a:extLst>
              <a:ext uri="{FF2B5EF4-FFF2-40B4-BE49-F238E27FC236}">
                <a16:creationId xmlns:a16="http://schemas.microsoft.com/office/drawing/2014/main" id="{B2064525-66A8-D6CB-CBED-123A9E713DAE}"/>
              </a:ext>
            </a:extLst>
          </p:cNvPr>
          <p:cNvSpPr txBox="1">
            <a:spLocks/>
          </p:cNvSpPr>
          <p:nvPr/>
        </p:nvSpPr>
        <p:spPr>
          <a:xfrm>
            <a:off x="311699" y="858900"/>
            <a:ext cx="8391625" cy="3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- логическая абстракция, которая через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IP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адрес позволяет создать точку доступа через набор меток (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label).</a:t>
            </a:r>
          </a:p>
          <a:p>
            <a:pPr>
              <a:spcBef>
                <a:spcPts val="1600"/>
              </a:spcBef>
            </a:pPr>
            <a:r>
              <a:rPr lang="ru-RU" sz="1600" b="1" dirty="0">
                <a:latin typeface="Calibri" panose="020F0502020204030204" pitchFamily="34" charset="0"/>
                <a:cs typeface="Calibri" panose="020F0502020204030204" pitchFamily="34" charset="0"/>
              </a:rPr>
              <a:t>Типы настроек:</a:t>
            </a:r>
          </a:p>
          <a:p>
            <a:pPr marL="457200" indent="-342900">
              <a:spcBef>
                <a:spcPts val="1600"/>
              </a:spcBef>
              <a:buSzPts val="1800"/>
              <a:buFont typeface="Arial"/>
              <a:buChar char="-"/>
            </a:pP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ClusterIP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342900">
              <a:buSzPts val="1800"/>
              <a:buFont typeface="Arial"/>
              <a:buChar char="-"/>
            </a:pP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342900">
              <a:buSzPts val="1800"/>
              <a:buFont typeface="Arial"/>
              <a:buChar char="-"/>
            </a:pP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LoadBalancer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oogle Shape;125;p24">
            <a:extLst>
              <a:ext uri="{FF2B5EF4-FFF2-40B4-BE49-F238E27FC236}">
                <a16:creationId xmlns:a16="http://schemas.microsoft.com/office/drawing/2014/main" id="{996577DB-9A9D-3819-D569-C96AFF98D67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901" y="1303052"/>
            <a:ext cx="3062851" cy="3245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504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61F59376-C910-DB11-D1E1-9C3F014D8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A11C188A-00D1-09B1-0EA6-B01F295C28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sp>
        <p:nvSpPr>
          <p:cNvPr id="2" name="Google Shape;124;p24">
            <a:extLst>
              <a:ext uri="{FF2B5EF4-FFF2-40B4-BE49-F238E27FC236}">
                <a16:creationId xmlns:a16="http://schemas.microsoft.com/office/drawing/2014/main" id="{8E78104D-CD7D-7DBE-4E85-DBC4A7D65D4C}"/>
              </a:ext>
            </a:extLst>
          </p:cNvPr>
          <p:cNvSpPr txBox="1">
            <a:spLocks/>
          </p:cNvSpPr>
          <p:nvPr/>
        </p:nvSpPr>
        <p:spPr>
          <a:xfrm>
            <a:off x="311699" y="858900"/>
            <a:ext cx="8391625" cy="3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Как работают селекторы в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10965198-4386-2946-AA97-54A87A69D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623" y="1322877"/>
            <a:ext cx="4606754" cy="350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48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066B147E-0410-7072-E6CE-C0BF27C28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CF9F5872-CF47-7EEA-332A-ABC1981E14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sp>
        <p:nvSpPr>
          <p:cNvPr id="2" name="Google Shape;124;p24">
            <a:extLst>
              <a:ext uri="{FF2B5EF4-FFF2-40B4-BE49-F238E27FC236}">
                <a16:creationId xmlns:a16="http://schemas.microsoft.com/office/drawing/2014/main" id="{5D807273-F823-6210-A01B-D2E281623EE2}"/>
              </a:ext>
            </a:extLst>
          </p:cNvPr>
          <p:cNvSpPr txBox="1">
            <a:spLocks/>
          </p:cNvSpPr>
          <p:nvPr/>
        </p:nvSpPr>
        <p:spPr>
          <a:xfrm>
            <a:off x="311699" y="858900"/>
            <a:ext cx="3147597" cy="485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Типы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Service: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ClusterIP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E1D095-CDD3-75AE-1AF8-7CD468D8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070" y="1344058"/>
            <a:ext cx="3847859" cy="352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7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3B7237E8-3F35-EF55-8C13-B56AF725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F01B61C8-3849-FE7C-2F48-CFC6453C79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EC5059-FFD3-0F22-8CA8-39AF4796E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596" y="954038"/>
            <a:ext cx="3654807" cy="4010262"/>
          </a:xfrm>
          <a:prstGeom prst="rect">
            <a:avLst/>
          </a:prstGeom>
        </p:spPr>
      </p:pic>
      <p:sp>
        <p:nvSpPr>
          <p:cNvPr id="5" name="Google Shape;124;p24">
            <a:extLst>
              <a:ext uri="{FF2B5EF4-FFF2-40B4-BE49-F238E27FC236}">
                <a16:creationId xmlns:a16="http://schemas.microsoft.com/office/drawing/2014/main" id="{DEE0ECC9-1975-5BA9-C70C-F385CF0387A8}"/>
              </a:ext>
            </a:extLst>
          </p:cNvPr>
          <p:cNvSpPr txBox="1">
            <a:spLocks/>
          </p:cNvSpPr>
          <p:nvPr/>
        </p:nvSpPr>
        <p:spPr>
          <a:xfrm>
            <a:off x="311699" y="858900"/>
            <a:ext cx="3147597" cy="485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Типы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Service: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59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4A1303B8-897C-FA47-3CA9-523A88A9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579219A7-6EB4-1692-85BB-53A5F21000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pic>
        <p:nvPicPr>
          <p:cNvPr id="5" name="Picture 4" descr="A diagram of a load balancer&#10;&#10;AI-generated content may be incorrect.">
            <a:extLst>
              <a:ext uri="{FF2B5EF4-FFF2-40B4-BE49-F238E27FC236}">
                <a16:creationId xmlns:a16="http://schemas.microsoft.com/office/drawing/2014/main" id="{B8CA8FC7-847E-A207-4912-66DC56C1B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74" y="1177558"/>
            <a:ext cx="3504851" cy="3786742"/>
          </a:xfrm>
          <a:prstGeom prst="rect">
            <a:avLst/>
          </a:prstGeom>
        </p:spPr>
      </p:pic>
      <p:sp>
        <p:nvSpPr>
          <p:cNvPr id="6" name="Google Shape;124;p24">
            <a:extLst>
              <a:ext uri="{FF2B5EF4-FFF2-40B4-BE49-F238E27FC236}">
                <a16:creationId xmlns:a16="http://schemas.microsoft.com/office/drawing/2014/main" id="{BA1DD714-8422-53CA-6CAB-333644A2BB72}"/>
              </a:ext>
            </a:extLst>
          </p:cNvPr>
          <p:cNvSpPr txBox="1">
            <a:spLocks/>
          </p:cNvSpPr>
          <p:nvPr/>
        </p:nvSpPr>
        <p:spPr>
          <a:xfrm>
            <a:off x="311699" y="858900"/>
            <a:ext cx="6375540" cy="485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Типы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Service: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LoadBalancer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только в облаке)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098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5B8F7058-2E25-EBB4-535A-0BEE57BA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17658CAF-AE12-3F73-F462-2E1A39C67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sp>
        <p:nvSpPr>
          <p:cNvPr id="4" name="Google Shape;137;p26">
            <a:extLst>
              <a:ext uri="{FF2B5EF4-FFF2-40B4-BE49-F238E27FC236}">
                <a16:creationId xmlns:a16="http://schemas.microsoft.com/office/drawing/2014/main" id="{534805CD-28B7-A38C-5347-F0D668C1F373}"/>
              </a:ext>
            </a:extLst>
          </p:cNvPr>
          <p:cNvSpPr txBox="1">
            <a:spLocks/>
          </p:cNvSpPr>
          <p:nvPr/>
        </p:nvSpPr>
        <p:spPr>
          <a:xfrm>
            <a:off x="346976" y="936434"/>
            <a:ext cx="8312282" cy="763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Deployment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управляющий ресурс, ответственный за управлением состояния приложения: обновление, откат, статусы задач</a:t>
            </a:r>
          </a:p>
        </p:txBody>
      </p:sp>
      <p:pic>
        <p:nvPicPr>
          <p:cNvPr id="5" name="Google Shape;138;p26">
            <a:extLst>
              <a:ext uri="{FF2B5EF4-FFF2-40B4-BE49-F238E27FC236}">
                <a16:creationId xmlns:a16="http://schemas.microsoft.com/office/drawing/2014/main" id="{4B345547-F917-A327-1416-DF30DF50F3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874" y="1884247"/>
            <a:ext cx="3812251" cy="264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4707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02352453-B370-4B75-C0AF-0DAF4642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CA8B70A8-92CD-7B6D-C9E5-ECCAB547F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sp>
        <p:nvSpPr>
          <p:cNvPr id="4" name="Google Shape;137;p26">
            <a:extLst>
              <a:ext uri="{FF2B5EF4-FFF2-40B4-BE49-F238E27FC236}">
                <a16:creationId xmlns:a16="http://schemas.microsoft.com/office/drawing/2014/main" id="{B46783C8-498D-A8BC-3BAF-1023C49DA290}"/>
              </a:ext>
            </a:extLst>
          </p:cNvPr>
          <p:cNvSpPr txBox="1">
            <a:spLocks/>
          </p:cNvSpPr>
          <p:nvPr/>
        </p:nvSpPr>
        <p:spPr>
          <a:xfrm>
            <a:off x="346976" y="936434"/>
            <a:ext cx="8312282" cy="763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Ingress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k8s API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объект, который выставляет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HTTP/HTTPS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роуты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снаружи кластера и направляет трафик на сервисы внутри.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8D36BA-C387-C8EC-DD12-CBCAFF366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892" y="1665994"/>
            <a:ext cx="4864215" cy="347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4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60743CA5-2DD6-C131-D0F3-5A01CB66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41D5F0DC-F1D4-C3E1-68B8-E6EF72517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AA0142-70E1-FAD6-95F2-FD5192F96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77" y="1248483"/>
            <a:ext cx="3177047" cy="3577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175977-97BC-8EA2-4CB4-2875B4AA9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777" y="893344"/>
            <a:ext cx="3515591" cy="3952557"/>
          </a:xfrm>
          <a:prstGeom prst="rect">
            <a:avLst/>
          </a:prstGeom>
        </p:spPr>
      </p:pic>
      <p:sp>
        <p:nvSpPr>
          <p:cNvPr id="4" name="Google Shape;137;p26">
            <a:extLst>
              <a:ext uri="{FF2B5EF4-FFF2-40B4-BE49-F238E27FC236}">
                <a16:creationId xmlns:a16="http://schemas.microsoft.com/office/drawing/2014/main" id="{D624E5A7-5E2C-18FB-3AB7-2D720D8FD190}"/>
              </a:ext>
            </a:extLst>
          </p:cNvPr>
          <p:cNvSpPr txBox="1">
            <a:spLocks/>
          </p:cNvSpPr>
          <p:nvPr/>
        </p:nvSpPr>
        <p:spPr>
          <a:xfrm>
            <a:off x="333734" y="675783"/>
            <a:ext cx="210099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Манифесты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208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63F1271C-6A87-CA1D-BA42-BD5A8495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7">
            <a:extLst>
              <a:ext uri="{FF2B5EF4-FFF2-40B4-BE49-F238E27FC236}">
                <a16:creationId xmlns:a16="http://schemas.microsoft.com/office/drawing/2014/main" id="{91E20F4B-BAB5-849B-4897-4A4860647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82" y="179200"/>
            <a:ext cx="663023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lvl="0" algn="l"/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Kubernetes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3E571D-91E8-45D1-3B02-40A5D1259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21" y="1335451"/>
            <a:ext cx="1854200" cy="271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9BF78E-222A-D24D-C3F8-3FEECF552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374" y="751900"/>
            <a:ext cx="2933700" cy="1752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F6014E-BF23-EA69-DC60-1134BA40D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175" y="751900"/>
            <a:ext cx="2311400" cy="433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BA2555-43CE-8091-41CC-701589938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6424" y="2594307"/>
            <a:ext cx="2641600" cy="1206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68C94B-0626-C290-4318-8D193E9198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3274" y="3888800"/>
            <a:ext cx="2247900" cy="1193800"/>
          </a:xfrm>
          <a:prstGeom prst="rect">
            <a:avLst/>
          </a:prstGeom>
        </p:spPr>
      </p:pic>
      <p:sp>
        <p:nvSpPr>
          <p:cNvPr id="8" name="Google Shape;137;p26">
            <a:extLst>
              <a:ext uri="{FF2B5EF4-FFF2-40B4-BE49-F238E27FC236}">
                <a16:creationId xmlns:a16="http://schemas.microsoft.com/office/drawing/2014/main" id="{323A701B-58F4-4975-0608-4979E467640A}"/>
              </a:ext>
            </a:extLst>
          </p:cNvPr>
          <p:cNvSpPr txBox="1">
            <a:spLocks/>
          </p:cNvSpPr>
          <p:nvPr/>
        </p:nvSpPr>
        <p:spPr>
          <a:xfrm>
            <a:off x="333734" y="675783"/>
            <a:ext cx="210099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Манифесты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254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9809A500-06E0-D972-2EC2-74837FE3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esign PNG E SVG De Golpe De Cinema De Ação Para Camisetas">
            <a:extLst>
              <a:ext uri="{FF2B5EF4-FFF2-40B4-BE49-F238E27FC236}">
                <a16:creationId xmlns:a16="http://schemas.microsoft.com/office/drawing/2014/main" id="{C2133EB8-8C3C-6F38-448B-B4795CC72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36" y="3211410"/>
            <a:ext cx="1214949" cy="1214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3" name="Google Shape;333;p67">
            <a:extLst>
              <a:ext uri="{FF2B5EF4-FFF2-40B4-BE49-F238E27FC236}">
                <a16:creationId xmlns:a16="http://schemas.microsoft.com/office/drawing/2014/main" id="{0FE7E506-CF76-09BB-E5F5-4D41F2610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0535" y="2937621"/>
            <a:ext cx="5511133" cy="15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sz="2000" dirty="0">
                <a:solidFill>
                  <a:schemeClr val="dk1"/>
                </a:solidFill>
              </a:rPr>
              <a:t>Live demo</a:t>
            </a:r>
            <a:endParaRPr sz="2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8553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Другая 14">
      <a:dk1>
        <a:srgbClr val="000000"/>
      </a:dk1>
      <a:lt1>
        <a:srgbClr val="FFFFFF"/>
      </a:lt1>
      <a:dk2>
        <a:srgbClr val="413E7E"/>
      </a:dk2>
      <a:lt2>
        <a:srgbClr val="EAF0F6"/>
      </a:lt2>
      <a:accent1>
        <a:srgbClr val="0082BB"/>
      </a:accent1>
      <a:accent2>
        <a:srgbClr val="00C4F2"/>
      </a:accent2>
      <a:accent3>
        <a:srgbClr val="3DD3BA"/>
      </a:accent3>
      <a:accent4>
        <a:srgbClr val="FAA61A"/>
      </a:accent4>
      <a:accent5>
        <a:srgbClr val="F20062"/>
      </a:accent5>
      <a:accent6>
        <a:srgbClr val="888A8D"/>
      </a:accent6>
      <a:hlink>
        <a:srgbClr val="0070C0"/>
      </a:hlink>
      <a:folHlink>
        <a:srgbClr val="B500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362</Words>
  <Application>Microsoft Macintosh PowerPoint</Application>
  <PresentationFormat>On-screen Show (16:9)</PresentationFormat>
  <Paragraphs>78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Simple Light</vt:lpstr>
      <vt:lpstr>1_Тема Office</vt:lpstr>
      <vt:lpstr>PowerPoint Presentation</vt:lpstr>
      <vt:lpstr>Что нас ждет и план занятий</vt:lpstr>
      <vt:lpstr>PowerPoint Presentation</vt:lpstr>
      <vt:lpstr>Kubernetes</vt:lpstr>
      <vt:lpstr>Kubernetes</vt:lpstr>
      <vt:lpstr>Kubernetes</vt:lpstr>
      <vt:lpstr>Kubernetes</vt:lpstr>
      <vt:lpstr>Kubernetes</vt:lpstr>
      <vt:lpstr>Kubernetes</vt:lpstr>
      <vt:lpstr>Kubernetes</vt:lpstr>
      <vt:lpstr>Kubernetes</vt:lpstr>
      <vt:lpstr>Kubernetes</vt:lpstr>
      <vt:lpstr>Kubernetes</vt:lpstr>
      <vt:lpstr>Kubernetes</vt:lpstr>
      <vt:lpstr>Kubernetes</vt:lpstr>
      <vt:lpstr>Kubernetes</vt:lpstr>
      <vt:lpstr>Kubernetes</vt:lpstr>
      <vt:lpstr>Kubernetes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Evgeniy Chernov</cp:lastModifiedBy>
  <cp:revision>80</cp:revision>
  <dcterms:modified xsi:type="dcterms:W3CDTF">2026-02-07T09:29:53Z</dcterms:modified>
</cp:coreProperties>
</file>