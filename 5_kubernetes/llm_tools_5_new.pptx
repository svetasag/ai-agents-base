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76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914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463040"/>
            <a:ext cx="146304" cy="146304"/>
          </a:xfrm>
          <a:prstGeom prst="ellipse">
            <a:avLst/>
          </a:prstGeom>
          <a:solidFill>
            <a:srgbClr val="3C4788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554480"/>
            <a:ext cx="146304" cy="146304"/>
          </a:xfrm>
          <a:prstGeom prst="ellipse">
            <a:avLst/>
          </a:prstGeom>
          <a:solidFill>
            <a:srgbClr val="3C4788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2377440"/>
            <a:ext cx="146304" cy="146304"/>
          </a:xfrm>
          <a:prstGeom prst="ellipse">
            <a:avLst/>
          </a:prstGeom>
          <a:solidFill>
            <a:srgbClr val="3C4788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2103120"/>
            <a:ext cx="146304" cy="146304"/>
          </a:xfrm>
          <a:prstGeom prst="ellipse">
            <a:avLst/>
          </a:prstGeom>
          <a:ln w="1905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2286000"/>
            <a:ext cx="146304" cy="146304"/>
          </a:xfrm>
          <a:prstGeom prst="ellipse">
            <a:avLst/>
          </a:prstGeom>
          <a:solidFill>
            <a:srgbClr val="2E376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640080"/>
            <a:ext cx="146304" cy="146304"/>
          </a:xfrm>
          <a:prstGeom prst="ellipse">
            <a:avLst/>
          </a:prstGeom>
          <a:solidFill>
            <a:srgbClr val="2E376E"/>
          </a:solidFill>
          <a:ln/>
        </p:spPr>
      </p:sp>
      <p:sp>
        <p:nvSpPr>
          <p:cNvPr id="9" name="Shape 7"/>
          <p:cNvSpPr/>
          <p:nvPr/>
        </p:nvSpPr>
        <p:spPr>
          <a:xfrm>
            <a:off x="10405872" y="987552"/>
            <a:ext cx="713232" cy="548640"/>
          </a:xfrm>
          <a:prstGeom prst="line">
            <a:avLst/>
          </a:prstGeom>
          <a:noFill/>
          <a:ln w="12700">
            <a:solidFill>
              <a:srgbClr val="3C4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65792" y="1627632"/>
            <a:ext cx="658368" cy="0"/>
          </a:xfrm>
          <a:prstGeom prst="line">
            <a:avLst/>
          </a:prstGeom>
          <a:noFill/>
          <a:ln w="12700">
            <a:solidFill>
              <a:srgbClr val="3C4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31552" y="2286000"/>
            <a:ext cx="713232" cy="0"/>
          </a:xfrm>
          <a:prstGeom prst="line">
            <a:avLst/>
          </a:prstGeom>
          <a:noFill/>
          <a:ln w="12700">
            <a:solidFill>
              <a:srgbClr val="3C4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7373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700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1.5   ·   LLMOps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 контейнеров: балансировка, масштабирование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отказоустойчивость приложений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32688" y="5074920"/>
            <a:ext cx="2926080" cy="0"/>
          </a:xfrm>
          <a:prstGeom prst="line">
            <a:avLst/>
          </a:prstGeom>
          <a:noFill/>
          <a:ln w="19050">
            <a:solidFill>
              <a:srgbClr val="3C4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 Евгений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@awe_eu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НАХОДИМСЯ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курса: элементы промышленной разработки для ML-инженера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Элементы промышленной разработки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" y="288950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6464" y="2862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LLM-проект: этапы и инструменты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96112" y="3465576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6464" y="34381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Сети, модели OSI и TCP/IP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6112" y="404164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26464" y="40142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на L7: HTTP и gRPC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96112" y="4617720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26464" y="4590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 и виртуализация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7240" y="5138928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DE9EA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5193792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26464" y="5166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Kubernetes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72200" y="173736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3952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2240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и инференс LLM на GPU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01384" y="3017520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</p:sp>
      <p:sp>
        <p:nvSpPr>
          <p:cNvPr id="28" name="Text 26"/>
          <p:cNvSpPr/>
          <p:nvPr/>
        </p:nvSpPr>
        <p:spPr>
          <a:xfrm>
            <a:off x="6501384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2990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GPU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501384" y="3675888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</p:sp>
      <p:sp>
        <p:nvSpPr>
          <p:cNvPr id="31" name="Text 29"/>
          <p:cNvSpPr/>
          <p:nvPr/>
        </p:nvSpPr>
        <p:spPr>
          <a:xfrm>
            <a:off x="6501384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36484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утилизация GPU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501384" y="4334256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</p:sp>
      <p:sp>
        <p:nvSpPr>
          <p:cNvPr id="34" name="Text 32"/>
          <p:cNvSpPr/>
          <p:nvPr/>
        </p:nvSpPr>
        <p:spPr>
          <a:xfrm>
            <a:off x="6501384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43068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Фреймворки деплоя LLM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501384" y="4992624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</p:sp>
      <p:sp>
        <p:nvSpPr>
          <p:cNvPr id="37" name="Text 35"/>
          <p:cNvSpPr/>
          <p:nvPr/>
        </p:nvSpPr>
        <p:spPr>
          <a:xfrm>
            <a:off x="6501384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realtime-сервиса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Kubernetes?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 систему в проде, которой нужно постоянно обеспечивать четыре свойства: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Балансировка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 распределять нагрузку по нодам и репликам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Обновления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Выкатывать новые версии без простоя и с откатом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4476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51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Отказоустойчивость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Перезапускать упавшие сервисы и держать нужное число реплик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3368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7143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Изоляция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8972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Разделять окружения и ресурсы между приложениями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11055096" cy="123444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5074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0292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828800" y="50292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что умеет Docker?  </a:t>
            </a: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изоляцию.</a:t>
            </a:r>
            <a:r>
              <a:rPr lang="en-US" sz="15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Балансировку, обновления и самовосстановление берёт на себя Kubernetes.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«железа» к оркестрации контейнеров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pic>
        <p:nvPicPr>
          <p:cNvPr id="6" name="Image 0" descr="/private/tmp/claude-501/-Users-aweeu-Desktop-hse-llmops-course/541eb3f8-5de9-4587-9362-b9732339ac83/scratchpad/build/img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180" y="1920240"/>
            <a:ext cx="577088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5321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→ Virtualized → Container → Kubernetes.  </a:t>
            </a: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 дают лёгкую изоляцию поверх одной ОС, а Kubernetes добавляет управление их жизненным циклом на кластере машин.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Kubernetes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 — </a:t>
            </a:r>
            <a:r>
              <a:rPr lang="en-US" sz="16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для автоматизации деплоя, масштабирования и управления контейнеризированными приложениями на кластере машин.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97180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227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Поддерживаемые container runtime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37764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639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стандарт де-факто, используется в k8s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6112" y="43251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1879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лёгкий runtime под Kubernetes CRI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6112" y="48737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47365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через shim; исторически самый известный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5422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5285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/ rkt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альтернативные движки контейнеров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81344" y="297180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83096" y="3227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запустить кластер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83096" y="37947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77456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— учебный кластер на своём ноутбуке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83096" y="450799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44622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Лёгкий дистрибутив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— минимальный k8s для edge и стендов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83096" y="522122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77456" y="51755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облаке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Cloud через terraform или меню администратора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кластер: Control Plane и рабочие ноды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7635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pic>
        <p:nvPicPr>
          <p:cNvPr id="6" name="Image 0" descr="/private/tmp/claude-501/-Users-aweeu-Desktop-hse-llmops-course/541eb3f8-5de9-4587-9362-b9732339ac83/scratchpad/build/img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633" y="1874520"/>
            <a:ext cx="4858973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691640"/>
            <a:ext cx="3200400" cy="4160520"/>
          </a:xfrm>
          <a:prstGeom prst="roundRect">
            <a:avLst>
              <a:gd name="adj" fmla="val 2571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уровня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0" y="25603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8942832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«мозг» кластера: принимает решения, хранит состояние, планирует размещение подов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0" y="36118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8942832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машины: на них реально запускаются контейнеры с приложениями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0" y="46634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8942832" y="45262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администратора — команды идут в kube-apiserver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собран кластер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управляющий слой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kube-apiserver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 входа в кластер; через него идут все команды и запросы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530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530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распределённое хранилище состояния: что и где запущено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решает, на какую ноду поставить новый под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3368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5314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controller-manager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5314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следит, чтобы фактическое состояние сходилось с желаемым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931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— рабочий слой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76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9560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ноды: запускает контейнеры и следит за их состоянием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51960" y="42976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07992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runtime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07992" y="49560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контейнеров (containerd / CRI-O), исполняет образы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36992" y="42976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93024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3024" y="49560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правила: маршрутизация трафика к подам сервиса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ДОСТУП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клиент и админ достигают сервисов в кластере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70408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pic>
        <p:nvPicPr>
          <p:cNvPr id="6" name="Image 0" descr="/private/tmp/claude-501/-Users-aweeu-Desktop-hse-llmops-course/541eb3f8-5de9-4587-9362-b9732339ac83/scratchpad/build/img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93" y="1874520"/>
            <a:ext cx="3629494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691640"/>
            <a:ext cx="3794760" cy="4160520"/>
          </a:xfrm>
          <a:prstGeom prst="roundRect">
            <a:avLst>
              <a:gd name="adj" fmla="val 2169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74152" y="2020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8330184" y="1892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→ снаружи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 идёт через Load Balancer (L4) на Ingress-контроллер, а тот — на нужный Service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74152" y="3008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833018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HTTP/HTTPS; терминирует TLS и роутит по хостам и путям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74152" y="3995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8330184" y="38679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→ kubectl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идут в kube-apiserver, а не напрямую к подам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74152" y="4983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8330184" y="48554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собирает метрики, Grafana их визуализирует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POD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— атомарная единица запуска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</a:t>
            </a: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наименьшая сущность в k8s. Это один или несколько контейнеров с общими сетью, IP-адресом и томами.</a:t>
            </a:r>
            <a:endParaRPr lang="en-US" sz="1500" dirty="0"/>
          </a:p>
        </p:txBody>
      </p:sp>
      <p:pic>
        <p:nvPicPr>
          <p:cNvPr id="7" name="Image 0" descr="/private/tmp/claude-501/-Users-aweeu-Desktop-hse-llmops-course/541eb3f8-5de9-4587-9362-b9732339ac83/scratchpad/build/img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43" y="2788920"/>
            <a:ext cx="4190594" cy="1874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Pod получает собственный IP; контейнеры внутри общаются через localhost.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793992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8013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pod.yaml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19672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Pod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hse-pod-1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frontend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hse-pod-1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aesedeu/nginx-hse-ai:1.0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{ cpu: 250m, memory: 64Mi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{ cpu: 500m, memory: 128Mi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containerPort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REPLICASET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ReplicaSet — поддержание нужного числа реплик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801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replicaset.yaml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apps/v1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ReplicaSet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hse-rs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frontend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frontend }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frontend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httpd:latest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947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ReplicaSet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5392" y="25603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59752" y="25054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 N подов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поддерживает заданное число реплик (replicas: 4)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65392" y="334670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59752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по меткам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 подами, чьи labels совпадают с selector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5392" y="413308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9752" y="40782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Самовосстановление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Удалили под — RS тут же поднимает новый на замену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65392" y="491947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9752" y="48646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Меняем replicas в манифесте — число подов подстраивается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управление состоянием приложения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7665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pic>
        <p:nvPicPr>
          <p:cNvPr id="6" name="Image 0" descr="/private/tmp/claude-501/-Users-aweeu-Desktop-hse-llmops-course/541eb3f8-5de9-4587-9362-b9732339ac83/scratchpad/build/img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27" y="1874520"/>
            <a:ext cx="4993105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691640"/>
            <a:ext cx="4069080" cy="4160520"/>
          </a:xfrm>
          <a:prstGeom prst="roundRect">
            <a:avLst>
              <a:gd name="adj" fmla="val 2022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→ ReplicaSet → Pods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818120" y="25146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8074152" y="23957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Декларативные обновления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задаём желаемый образ — k8s сам плавно заменяет поды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18120" y="3364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8074152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ревизий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history — видно все версии деплоя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42153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8074152" y="40965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 в один шаг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undo возвращает предыдущую ревизию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18120" y="50657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8074152" y="494690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maxUnavailable / maxSurge — обновление без простоя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обновления и операции rollout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80644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801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deployment.yaml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apps/v1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Deployment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hse-deployment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RollingUpdate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rollingUpdate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maxUnavailable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maxSurge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backend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labels: { app: backend }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nodeSelector: { load: high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{ name: web, image: nginx:latest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69164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8484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14032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801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rollout — управление выкаткой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39712" y="21488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history deployment/hse-deployment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set image deploy/hse web=nginx:1.27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status deployment/hse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undo deployment hse   # откат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420624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Размещение по нодам (nodeSelector)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label nodes minikube-m02 load=high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Добавляем nodeSelector в манифест — и поды переезжают только на ноды с нужной меткой.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— стабильная точка доступа к подам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556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</a:t>
            </a: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логическая абстракция: единый IP и DNS-имя, за которыми через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label-селекторы </a:t>
            </a: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скрывается набор подов. Поды приходят и уходят — адрес Service остаётся постоянным.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88920"/>
            <a:ext cx="76809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pic>
        <p:nvPicPr>
          <p:cNvPr id="8" name="Image 0" descr="/private/tmp/claude-501/-Users-aweeu-Desktop-hse-llmops-course/541eb3f8-5de9-4587-9362-b9732339ac83/scratchpad/build/img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143" y="2971800"/>
            <a:ext cx="2545674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2788920"/>
            <a:ext cx="3172968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14232" y="300837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работают селекторы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14232" y="3447288"/>
            <a:ext cx="2715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несёт метки, например app: frontend.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selector app: frontend и связывает все совпавшие поды.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балансируется между ними автоматически.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типа Service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84448" cy="37033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CEEF7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3063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IP, доступный только внутри кластера. Для связи сервисов между собой.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84448" cy="37033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CEEF7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0288" y="3063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NodePort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НА НОДАХ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0288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один порт на каждой ноде (30000–32767). Простой внешний доступ для стендов.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28432" y="1874520"/>
            <a:ext cx="3584448" cy="3703320"/>
          </a:xfrm>
          <a:prstGeom prst="roundRect">
            <a:avLst>
              <a:gd name="adj" fmla="val 2296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21040" y="3063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LoadBalancer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ОБЛАКЕ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поднимает внешний балансировщик с публичным IP перед сервисом.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типа Service — наглядно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84448" cy="41605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ClusterIP</a:t>
            </a:r>
            <a:endParaRPr lang="en-US" sz="1600" dirty="0"/>
          </a:p>
        </p:txBody>
      </p:sp>
      <p:pic>
        <p:nvPicPr>
          <p:cNvPr id="7" name="Image 0" descr="/private/tmp/claude-501/-Users-aweeu-Desktop-hse-llmops-course/541eb3f8-5de9-4587-9362-b9732339ac83/scratchpad/build/img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42728"/>
            <a:ext cx="3218688" cy="29497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6752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внутри кластера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84448" cy="41605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80560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NodePort</a:t>
            </a:r>
            <a:endParaRPr lang="en-US" sz="1600" dirty="0"/>
          </a:p>
        </p:txBody>
      </p:sp>
      <p:pic>
        <p:nvPicPr>
          <p:cNvPr id="11" name="Image 1" descr="/private/tmp/claude-501/-Users-aweeu-Desktop-hse-llmops-course/541eb3f8-5de9-4587-9362-b9732339ac83/scratchpad/build/img/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709" y="2331720"/>
            <a:ext cx="2708390" cy="297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536752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на каждой ноде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28432" y="1691640"/>
            <a:ext cx="3584448" cy="41605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211312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LoadBalancer</a:t>
            </a:r>
            <a:endParaRPr lang="en-US" sz="1600" dirty="0"/>
          </a:p>
        </p:txBody>
      </p:sp>
      <p:pic>
        <p:nvPicPr>
          <p:cNvPr id="15" name="Image 2" descr="/private/tmp/claude-501/-Users-aweeu-Desktop-hse-llmops-course/541eb3f8-5de9-4587-9362-b9732339ac83/scratchpad/build/img/image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369" y="2331720"/>
            <a:ext cx="2750574" cy="297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1312" y="536752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IP из облака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INGRESS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 — единая точка входа HTTP/HTTPS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</a:t>
            </a: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объект k8s API, который выставляет HTTP/HTTPS-роуты снаружи кластера и по хосту/пути направляет трафик на внутренние сервисы. Работает через Ingress-контроллер (например, nginx).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77724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pic>
        <p:nvPicPr>
          <p:cNvPr id="8" name="Image 0" descr="/private/tmp/claude-501/-Users-aweeu-Desktop-hse-llmops-course/541eb3f8-5de9-4587-9362-b9732339ac83/scratchpad/build/img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301" y="2926080"/>
            <a:ext cx="3836798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2743200"/>
            <a:ext cx="3081528" cy="310896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05672" y="294436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05672" y="344728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9043416" y="331927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 вместо множества NodePort / LoadBalancer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805672" y="40142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9043416" y="38862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по хостам: hse-ai.ru, backend.hse-ai.ru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805672" y="4581144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9043416" y="44531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по путям: /, /api, /metrics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805672" y="514807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</p:sp>
      <p:sp>
        <p:nvSpPr>
          <p:cNvPr id="18" name="Text 15"/>
          <p:cNvSpPr/>
          <p:nvPr/>
        </p:nvSpPr>
        <p:spPr>
          <a:xfrm>
            <a:off x="9043416" y="502005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Терминация TLS в одном месте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и Secrets — отделяем настройки от кода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73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— несекретные настройки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89888" y="2167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configmap.yaml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ConfigMap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my-config 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|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DATA_1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DATA_2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572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Монтируется как файл: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volumeMounts → /etc/config.
</a:t>
            </a: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пода конфиг доступен по пути как обычный YAML-файл.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67335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— чувствительные данные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93992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1671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secret.yaml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9672" y="25146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Secret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my-secret 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Opaque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YWRtaW4=   </a:t>
            </a:r>
            <a:r>
              <a:rPr lang="en-US" sz="12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admin  (base64)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c2VjcmV0   </a:t>
            </a:r>
            <a:r>
              <a:rPr lang="en-US" sz="12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 (base64)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3891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в base64, не шифрование: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'admin' | base64
</a:t>
            </a: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Пробрасывается в под как переменные окружения через secretKeyRef.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Мониторинг кластера: Prometheus + Grafana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 Helm-чартом в namespace monitoring — сразу Prometheus, Grafana и Alertmanager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807208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9443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встаёт на все ноды и отдаёт метрики хостов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877056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401421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↔ Prometheus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подключается к prometheus-operated:9090; дашборды кластера из коробки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946904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53312" y="50840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сбор метрик приложения (напр. vllm-backend /metrics)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1737360"/>
            <a:ext cx="5029200" cy="2514600"/>
          </a:xfrm>
          <a:prstGeom prst="roundRect">
            <a:avLst>
              <a:gd name="adj" fmla="val 2909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114032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установка стека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39712" y="2194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create namespace monitoring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helm install prometheus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prometheus-community/kube-prometheus-stack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--namespace monitoring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--set grafana.service.type=LoadBalancer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--set grafana.adminPassword=admin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453128"/>
            <a:ext cx="5029200" cy="1399032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через Ingress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9560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grafana.hse-ai.ru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prometheus.hse-ai.ru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/ пароль Grafana: admin / admin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Поднимаем учебный кластер minikube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94360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801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setup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3-нодовый кластер (на macOS — драйвер qemu)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start --driver qemu --nodes 3 \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--cpus 3 --memory 8G --disk-size 80G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включаем аддоны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addons enable ingress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addons enable metrics-server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addons enable dashboard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через Makefile проекта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setup          # поднять кластер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update_hosts   # прописать hse-ai.ru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сборка и публикация образа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buildx build --platform \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linux/amd64,linux/arm64 \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-t aesedeu/nginx-hse-ai:1.0 --push 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1691640"/>
            <a:ext cx="48920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 при setup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95160" y="25968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251192" y="24871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ноды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один minikube эмулирует полноценный многонодовый кластер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33924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251192" y="328269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поднимается nginx Ingress-контроллер для внешнего доступа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41879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251192" y="40782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metrics-server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источник метрик CPU/RAM для kubectl top и автоскейла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95160" y="4983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251192" y="48737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/etc/hosts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домены *.hse-ai.ru маппятся на IP minikube (minikube tunnel)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Сценарий занятия: от пода к мониторингу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84248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40280" y="19293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 · Service · Ingress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1892808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поды, ходим между ними по IP из ubuntu-пода, поднимаем Service и Ingress, затем ReplicaSet — и видим самовосстановление подов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98648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99816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9981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30449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3008376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Rolling-обновление образа, история ревизий и откат; метки нод и nodeSelector — переносим поды на нужную ноду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014216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15384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1538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40280" y="41605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· Secrets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4123944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Монтируем конфиг в /etc/config, пробрасываем секреты в переменные окружения, проверяем балансировку по именам подов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129784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330952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3095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40280" y="52760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5239512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 kube-prometheus-stack, смотрим дашборды в Grafana, добавляем ServiceMonitor для метрик приложения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79222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МАНИФЕСТЫ?  МАНИФЕСТЫ!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Разбираем YAML-манифесты и применяем их в кластере, шаг за шагом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39826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</p:sp>
      <p:sp>
        <p:nvSpPr>
          <p:cNvPr id="10" name="Shape 8"/>
          <p:cNvSpPr/>
          <p:nvPr/>
        </p:nvSpPr>
        <p:spPr>
          <a:xfrm>
            <a:off x="5989320" y="439826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-o wide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93776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17550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937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tunnel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493776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517550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937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…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абстракции Kubernetes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0482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атомарная единица запуска: контейнеры с общими сетью и томами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848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20482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ReplicaSet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 заданное число одинаковых подов, восстанавливает упавшие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28432" y="1828800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20848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805672" y="20482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02752" y="260604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декларативные обновления, история ревизий и откат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785616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0416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1344168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" y="4562856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IP/DNS и балансировка по label-селекторам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785616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40416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0" y="4562856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HTTP/HTTPS-вход и роутинг по хостам и путям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28432" y="3785616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84464" y="40416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805672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/ Secret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02752" y="4562856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и секреты отдельно от образа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Лекция 1.5  ·  LLMOps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1979</Words>
  <Application>Microsoft Macintosh PowerPoint</Application>
  <PresentationFormat>Widescreen</PresentationFormat>
  <Paragraphs>384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— Лекция 1.5 (LLMOps)</dc:title>
  <dc:subject>PptxGenJS Presentation</dc:subject>
  <dc:creator>Чернов Евгений</dc:creator>
  <cp:lastModifiedBy>Evgeniy Chernov</cp:lastModifiedBy>
  <cp:revision>2</cp:revision>
  <dcterms:created xsi:type="dcterms:W3CDTF">2026-07-03T15:25:30Z</dcterms:created>
  <dcterms:modified xsi:type="dcterms:W3CDTF">2026-07-03T15:29:20Z</dcterms:modified>
</cp:coreProperties>
</file>