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8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4868" y="1046988"/>
            <a:ext cx="685800" cy="-41148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53528" y="658368"/>
            <a:ext cx="548640" cy="292608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932688"/>
            <a:ext cx="-182880" cy="484632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4868" y="1046988"/>
            <a:ext cx="1051560" cy="365760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6428" y="1412748"/>
            <a:ext cx="685800" cy="-155448"/>
          </a:xfrm>
          <a:prstGeom prst="line">
            <a:avLst/>
          </a:prstGeom>
          <a:noFill/>
          <a:ln w="12700">
            <a:solidFill>
              <a:srgbClr val="3A4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005840"/>
            <a:ext cx="82296" cy="82296"/>
          </a:xfrm>
          <a:prstGeom prst="ellipse">
            <a:avLst/>
          </a:prstGeom>
          <a:solidFill>
            <a:srgbClr val="2B3470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594360"/>
            <a:ext cx="128016" cy="128016"/>
          </a:xfrm>
          <a:prstGeom prst="ellipse">
            <a:avLst/>
          </a:prstGeom>
          <a:solidFill>
            <a:srgbClr val="F76266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0" y="886968"/>
            <a:ext cx="91440" cy="91440"/>
          </a:xfrm>
          <a:prstGeom prst="ellipse">
            <a:avLst/>
          </a:prstGeom>
          <a:solidFill>
            <a:srgbClr val="2B3470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1371600"/>
            <a:ext cx="82296" cy="82296"/>
          </a:xfrm>
          <a:prstGeom prst="ellipse">
            <a:avLst/>
          </a:prstGeom>
          <a:solidFill>
            <a:srgbClr val="2B347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216152"/>
            <a:ext cx="64008" cy="64008"/>
          </a:xfrm>
          <a:prstGeom prst="ellipse">
            <a:avLst/>
          </a:prstGeom>
          <a:solidFill>
            <a:srgbClr val="F76266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795528"/>
            <a:ext cx="128016" cy="128016"/>
          </a:xfrm>
          <a:prstGeom prst="ellipse">
            <a:avLst/>
          </a:prstGeom>
          <a:solidFill>
            <a:srgbClr val="21285C"/>
          </a:solidFill>
          <a:ln w="19050">
            <a:solidFill>
              <a:srgbClr val="F762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2527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1 · РАЗРАБОТКА И ВНЕДРЕНИЕ AI-АГЕНТОВ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" y="16002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LangGraph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агента по шагам: от одного вызова модели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графа с памятью и подтверждением действий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" y="4069080"/>
            <a:ext cx="2194560" cy="0"/>
          </a:xfrm>
          <a:prstGeom prst="line">
            <a:avLst/>
          </a:prstGeom>
          <a:noFill/>
          <a:ln w="12700">
            <a:solidFill>
              <a:srgbClr val="495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245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 Евгений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Магистратура «Искусственный интеллект», НИУ ВШЭ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КУРСЕ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занятия — один агент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курс растим одного агента-помощника по коду: он читает файлы, пишет код и запускает команды. Каждое занятие выводит его на новый уровень.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F762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59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6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+ LangGraph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инструменты, цикл, граф, память, подтверждения — сегодня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3131820"/>
            <a:ext cx="173736" cy="914"/>
          </a:xfrm>
          <a:prstGeom prst="line">
            <a:avLst/>
          </a:prstGeom>
          <a:noFill/>
          <a:ln w="2540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00984" y="233172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83864" y="2459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83864" y="27889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+ MCP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315468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выходит из терминала в мессенджер и подключает внешние инструменты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61304" y="3131820"/>
            <a:ext cx="173736" cy="914"/>
          </a:xfrm>
          <a:prstGeom prst="line">
            <a:avLst/>
          </a:prstGeom>
          <a:noFill/>
          <a:ln w="2540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53328" y="2331720"/>
            <a:ext cx="254203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36208" y="2459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27889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36208" y="315468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 и субагенты: агенты общаются друг с другом по протоколу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2128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1833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1650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08760" y="42062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— Jupyter-ноутбук: ячейки запускаем по очереди, шаг добавляет ровно одну новую вещь.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ЗАНЯТИЯ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Восемь шагов до настоящего агента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8836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1892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6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" y="225856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first_call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4944" y="256946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вызов модели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1783080"/>
            <a:ext cx="18836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52344" y="1892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6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52344" y="225856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52344" y="256946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 стриминг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18836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1892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6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09744" y="225856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structured_output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256946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как объект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1783080"/>
            <a:ext cx="1883664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67144" y="1892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6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67144" y="225856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67144" y="256946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просит функцию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282696"/>
            <a:ext cx="1883664" cy="1298448"/>
          </a:xfrm>
          <a:prstGeom prst="roundRect">
            <a:avLst>
              <a:gd name="adj" fmla="val 8451"/>
            </a:avLst>
          </a:prstGeom>
          <a:solidFill>
            <a:srgbClr val="21285C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3924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6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4944" y="3758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agent_loop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" y="406908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= агент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06040" y="3282696"/>
            <a:ext cx="1883664" cy="1298448"/>
          </a:xfrm>
          <a:prstGeom prst="roundRect">
            <a:avLst>
              <a:gd name="adj" fmla="val 8451"/>
            </a:avLst>
          </a:prstGeom>
          <a:solidFill>
            <a:srgbClr val="21285C"/>
          </a:solidFill>
          <a:ln/>
        </p:spPr>
      </p:sp>
      <p:sp>
        <p:nvSpPr>
          <p:cNvPr id="28" name="Text 26"/>
          <p:cNvSpPr/>
          <p:nvPr/>
        </p:nvSpPr>
        <p:spPr>
          <a:xfrm>
            <a:off x="2752344" y="33924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6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752344" y="3758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52344" y="406908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как граф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282696"/>
            <a:ext cx="1883664" cy="1298448"/>
          </a:xfrm>
          <a:prstGeom prst="roundRect">
            <a:avLst>
              <a:gd name="adj" fmla="val 8451"/>
            </a:avLst>
          </a:prstGeom>
          <a:solidFill>
            <a:srgbClr val="21285C"/>
          </a:solidFill>
          <a:ln/>
        </p:spPr>
      </p:sp>
      <p:sp>
        <p:nvSpPr>
          <p:cNvPr id="32" name="Text 30"/>
          <p:cNvSpPr/>
          <p:nvPr/>
        </p:nvSpPr>
        <p:spPr>
          <a:xfrm>
            <a:off x="4809744" y="33924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6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09744" y="3758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9744" y="406908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после рестарта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20840" y="3282696"/>
            <a:ext cx="1883664" cy="1298448"/>
          </a:xfrm>
          <a:prstGeom prst="roundRect">
            <a:avLst>
              <a:gd name="adj" fmla="val 8451"/>
            </a:avLst>
          </a:prstGeom>
          <a:solidFill>
            <a:srgbClr val="21285C"/>
          </a:solidFill>
          <a:ln/>
        </p:spPr>
      </p:sp>
      <p:sp>
        <p:nvSpPr>
          <p:cNvPr id="36" name="Text 34"/>
          <p:cNvSpPr/>
          <p:nvPr/>
        </p:nvSpPr>
        <p:spPr>
          <a:xfrm>
            <a:off x="6867144" y="33924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6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867144" y="3758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human_in_the_loop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67144" y="406908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действий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45902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01–05 — LangChain: модель, сообщения, инструменты      06–08 — LangGraph: граф, память, паузы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вызов модели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3840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7626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38039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 LangChain: модель — это объект с методом .invoke(). OpenRouter говорит на протоколе OpenAI, поэтому берём обычный ChatOpenAI и меняем только base_url.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1A1F45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47802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4780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5568" y="247802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423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01_first_call.ipynb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2807208"/>
            <a:ext cx="44074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ChatOpenAI(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model=os.getenv("MODEL"),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base_url="https://openrouter.ai/api/v1",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api_key=os.getenv("OPENROUTER_API_KEY"))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llm.invoke("Что такое AI-агент?")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print(answer.content)</a:t>
            </a:r>
            <a:endParaRPr lang="en-US" sz="10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print(answer.usage_metadata)  # токены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577840" y="2331720"/>
            <a:ext cx="303580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42432" y="239572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интерфейс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/ stream / bind_tools одинаковы для сотен моделей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77840" y="3145536"/>
            <a:ext cx="303580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42432" y="3209544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ключ — все модели; модель меняется строкой в .env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77840" y="3959352"/>
            <a:ext cx="303580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42432" y="402336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AIMessage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объект: .content, .usage_metadata, позже .tool_calls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Чат: история и стриминг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3840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7626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38039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ничего не помнит между вызовами. «Память» — это список сообщений, который мы целиком отправляем на каждом ходу. А .stream() отдаёт ответ кусками по мере генерации.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2128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378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23774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правила: «ты ассистент, отвечай кратко»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2B347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242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HumanMessage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926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пользователя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691640" cy="438912"/>
          </a:xfrm>
          <a:prstGeom prst="roundRect">
            <a:avLst>
              <a:gd name="adj" fmla="val 12500"/>
            </a:avLst>
          </a:prstGeom>
          <a:solidFill>
            <a:srgbClr val="F7626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106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AIMessage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4747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модели — тоже в историю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[System, Human, AI, Human, AI, …]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3904488" cy="2377440"/>
          </a:xfrm>
          <a:prstGeom prst="roundRect">
            <a:avLst>
              <a:gd name="adj" fmla="val 3077"/>
            </a:avLst>
          </a:prstGeom>
          <a:solidFill>
            <a:srgbClr val="1A1F45"/>
          </a:solidFill>
          <a:ln/>
        </p:spPr>
      </p:sp>
      <p:sp>
        <p:nvSpPr>
          <p:cNvPr id="21" name="Shape 19"/>
          <p:cNvSpPr/>
          <p:nvPr/>
        </p:nvSpPr>
        <p:spPr>
          <a:xfrm>
            <a:off x="4873752" y="247802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0" y="24780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276088" y="247802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242316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02_chat.ipynb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28616" y="2807208"/>
            <a:ext cx="34655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history.append(HumanMessage(text))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llm.stream(history):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print(chunk.content, end="")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 += chunk.content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history.append(AIMessage(reply))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как Python-объект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3840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7626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38039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ответ читает код, а не человек, текст неудобен. Описываем форму ответа Pydantic-моделью — и получаем проверенный типизированный объект.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1A1F45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47802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4780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5568" y="247802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423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03_structured_output.ipynb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2807208"/>
            <a:ext cx="413308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4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Task(BaseModel):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Literal["low","medium","high"]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 list[str]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extractor = llm.with_structured_output(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Task, method="function_calling")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= extractor.invoke("Срочно! Падает …")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F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task.priority   # → "high"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5303520" y="2331720"/>
            <a:ext cx="331012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68112" y="2395728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нужно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 запросов, извлечение полей, классификация, формы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03520" y="3145536"/>
            <a:ext cx="331012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68112" y="320954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function_calling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передаётся как инструмент — работает на любой модели с tool calling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0" y="3959352"/>
            <a:ext cx="331012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68112" y="4023360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не той формы → ошибка Pydantic, а не тихий мусор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просит — код выполняет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3840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7626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38039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превращает функцию в схему, bind_tools показывает её модели. Модель ничего не запускает сама: она отвечает tool_calls, а выполняем вызов мы и возвращаем ToolMessage.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762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378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модель: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2651760"/>
            <a:ext cx="292608" cy="914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0" y="23774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21285C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237378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наш код: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read_file(...)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651760"/>
            <a:ext cx="292608" cy="914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37760" y="237744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2B347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37378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ToolMessage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результатом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2651760"/>
            <a:ext cx="292608" cy="914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95160" y="2377440"/>
            <a:ext cx="1618488" cy="548640"/>
          </a:xfrm>
          <a:prstGeom prst="roundRect">
            <a:avLst>
              <a:gd name="adj" fmla="val 10000"/>
            </a:avLst>
          </a:prstGeom>
          <a:solidFill>
            <a:srgbClr val="5AD19B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2373782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модель: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1A1F45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32095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2095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5568" y="32095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1546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функция + докстринг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" y="3538728"/>
            <a:ext cx="36301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@tool(parse_docstring=True)</a:t>
            </a:r>
            <a:endParaRPr lang="en-US" sz="10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read_file(path: str) -&gt; str:</a:t>
            </a:r>
            <a:endParaRPr lang="en-US" sz="10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F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"""Read a text file.</a:t>
            </a:r>
            <a:endParaRPr lang="en-US" sz="10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F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0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F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path: File path, e.g. src/app.py</a:t>
            </a:r>
            <a:endParaRPr lang="en-US" sz="10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F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4663440" y="3904488"/>
            <a:ext cx="274320" cy="914"/>
          </a:xfrm>
          <a:prstGeom prst="line">
            <a:avLst/>
          </a:prstGeom>
          <a:noFill/>
          <a:ln w="3175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983480" y="3063240"/>
            <a:ext cx="3630168" cy="1691640"/>
          </a:xfrm>
          <a:prstGeom prst="roundRect">
            <a:avLst>
              <a:gd name="adj" fmla="val 4324"/>
            </a:avLst>
          </a:prstGeom>
          <a:solidFill>
            <a:srgbClr val="1A1F45"/>
          </a:solidFill>
          <a:ln/>
        </p:spPr>
      </p:sp>
      <p:sp>
        <p:nvSpPr>
          <p:cNvPr id="29" name="Shape 27"/>
          <p:cNvSpPr/>
          <p:nvPr/>
        </p:nvSpPr>
        <p:spPr>
          <a:xfrm>
            <a:off x="5148072" y="32095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0" name="Shape 28"/>
          <p:cNvSpPr/>
          <p:nvPr/>
        </p:nvSpPr>
        <p:spPr>
          <a:xfrm>
            <a:off x="5349240" y="32095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5550408" y="32095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3154680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видит модель (JSON)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02936" y="3538728"/>
            <a:ext cx="319125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4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"read_file",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"description": "Read a text file.",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"parameters": {"path": {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"string",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F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"File path, …"}}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АГЕНТНЫЙ ЦИКЛ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— это и есть агент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3840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7626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38039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Одного раунда мало: модель хочет сначала посмотреть список файлов, потом прочитать нужный. Крутим цикл, пока она не ответит без tool_calls. Всё «волшебство» агентов — в этих строках.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4800600" cy="2377440"/>
          </a:xfrm>
          <a:prstGeom prst="roundRect">
            <a:avLst>
              <a:gd name="adj" fmla="val 3077"/>
            </a:avLst>
          </a:prstGeom>
          <a:solidFill>
            <a:srgbClr val="1A1F45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47802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4780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5568" y="247802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423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05_agent_loop.ipynb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2807208"/>
            <a:ext cx="436168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run_agent(messages):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range(10):          # страховка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ai = llm_with_tools.invoke(messages)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messages.append(ai)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ai.tool_calls: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ai.content    # готово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call in ai.tool_calls: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run(call)</a:t>
            </a:r>
            <a:endParaRPr lang="en-US" sz="11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4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messages.append(ToolMessage(…))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5623560" y="2331720"/>
            <a:ext cx="2990088" cy="402336"/>
          </a:xfrm>
          <a:prstGeom prst="roundRect">
            <a:avLst>
              <a:gd name="adj" fmla="val 13636"/>
            </a:avLst>
          </a:prstGeom>
          <a:solidFill>
            <a:srgbClr val="F76266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2328062"/>
            <a:ext cx="2807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смотрит на историю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14032" y="2752344"/>
            <a:ext cx="914" cy="237744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23560" y="3008376"/>
            <a:ext cx="2990088" cy="402336"/>
          </a:xfrm>
          <a:prstGeom prst="roundRect">
            <a:avLst>
              <a:gd name="adj" fmla="val 13636"/>
            </a:avLst>
          </a:prstGeom>
          <a:solidFill>
            <a:srgbClr val="21285C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0" y="3004718"/>
            <a:ext cx="2807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tool_calls?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3429000"/>
            <a:ext cx="914" cy="237744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897880" y="34290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23560" y="368503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2B3470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368137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01000" y="3429000"/>
            <a:ext cx="914" cy="237744"/>
          </a:xfrm>
          <a:prstGeom prst="line">
            <a:avLst/>
          </a:prstGeom>
          <a:noFill/>
          <a:ln w="25400">
            <a:solidFill>
              <a:srgbClr val="5AD19B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110728" y="34290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06640" y="3685032"/>
            <a:ext cx="1207008" cy="402336"/>
          </a:xfrm>
          <a:prstGeom prst="roundRect">
            <a:avLst>
              <a:gd name="adj" fmla="val 13636"/>
            </a:avLst>
          </a:prstGeom>
          <a:solidFill>
            <a:srgbClr val="5AD19B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3681374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58968" y="3886200"/>
            <a:ext cx="164592" cy="0"/>
          </a:xfrm>
          <a:prstGeom prst="line">
            <a:avLst/>
          </a:prstGeom>
          <a:noFill/>
          <a:ln w="25400">
            <a:solidFill>
              <a:srgbClr val="F762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458968" y="2532888"/>
            <a:ext cx="914" cy="1353312"/>
          </a:xfrm>
          <a:prstGeom prst="line">
            <a:avLst/>
          </a:prstGeom>
          <a:noFill/>
          <a:ln w="25400">
            <a:solidFill>
              <a:srgbClr val="F76266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623560" y="425196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новое: второй инструмент list_files — модель может «осмотреться», а потом читать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Тот же агент — как граф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3840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7626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38039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из шага 05 становится графом: State (общие данные), Node (функция над состоянием), Edge (куда идти дальше). Поведение то же, но теперь граф даёт память и паузы почти даром.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9AA0B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7378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2743200"/>
            <a:ext cx="914" cy="201168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" y="2962656"/>
            <a:ext cx="1280160" cy="420624"/>
          </a:xfrm>
          <a:prstGeom prst="roundRect">
            <a:avLst>
              <a:gd name="adj" fmla="val 13043"/>
            </a:avLst>
          </a:prstGeom>
          <a:solidFill>
            <a:srgbClr val="F7626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5899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3172968"/>
            <a:ext cx="731520" cy="914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103120" y="2926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26080" y="2962656"/>
            <a:ext cx="1280160" cy="420624"/>
          </a:xfrm>
          <a:prstGeom prst="roundRect">
            <a:avLst>
              <a:gd name="adj" fmla="val 13043"/>
            </a:avLst>
          </a:prstGeom>
          <a:solidFill>
            <a:srgbClr val="21285C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95899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3401568"/>
            <a:ext cx="914" cy="201168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63040" y="3602736"/>
            <a:ext cx="2103120" cy="0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463040" y="3401568"/>
            <a:ext cx="914" cy="201168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63040" y="3749040"/>
            <a:ext cx="914" cy="292608"/>
          </a:xfrm>
          <a:prstGeom prst="line">
            <a:avLst/>
          </a:prstGeom>
          <a:noFill/>
          <a:ln w="25400">
            <a:solidFill>
              <a:srgbClr val="5AD19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5720" y="3767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нет tool_calls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22960" y="4078224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5AD19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7456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62F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331720"/>
            <a:ext cx="4041648" cy="2377440"/>
          </a:xfrm>
          <a:prstGeom prst="roundRect">
            <a:avLst>
              <a:gd name="adj" fmla="val 3077"/>
            </a:avLst>
          </a:prstGeom>
          <a:solidFill>
            <a:srgbClr val="1A1F45"/>
          </a:solidFill>
          <a:ln/>
        </p:spPr>
      </p:sp>
      <p:sp>
        <p:nvSpPr>
          <p:cNvPr id="27" name="Shape 25"/>
          <p:cNvSpPr/>
          <p:nvPr/>
        </p:nvSpPr>
        <p:spPr>
          <a:xfrm>
            <a:off x="4736592" y="247802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4780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138928" y="247802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242316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06_langgraph.ipynb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91456" y="2807208"/>
            <a:ext cx="3602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StateGraph(MessagesState)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g.add_node("agent", agent)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g.add_node("tools", ToolNode(TOOLS))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g.add_edge(START, "agent")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g.add_conditional_edges(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"agent", tools_condition)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g.add_edge("tools", "agent")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g.compile()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4553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узел возвращает новые сообщения — MessagesState их ДОБАВЛЯЕТ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агент — три записи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3840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7626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38039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записать одного и того же агента. Внутри у всех — один и тот же цикл.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2B347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3662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while-цикл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2240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видно и под контролем; память, паузы и стриминг шагов — пишешь сам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52344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F762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868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275234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2752344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явный граф: узлы и рёбра; checkpointer и interrupt подключаются одной строкой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64408"/>
            <a:ext cx="1600200" cy="438912"/>
          </a:xfrm>
          <a:prstGeom prst="roundRect">
            <a:avLst>
              <a:gd name="adj" fmla="val 12500"/>
            </a:avLst>
          </a:prstGeom>
          <a:solidFill>
            <a:srgbClr val="2128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6075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326440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конец 06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326440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граф за одну строку; удобно в проде, но внутри — тот же цикл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76472"/>
            <a:ext cx="8046720" cy="978408"/>
          </a:xfrm>
          <a:prstGeom prst="roundRect">
            <a:avLst>
              <a:gd name="adj" fmla="val 7477"/>
            </a:avLst>
          </a:prstGeom>
          <a:solidFill>
            <a:srgbClr val="1A1F45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92277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392277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5568" y="392277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386791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06_langgraph.ipynb · в конце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" y="4251960"/>
            <a:ext cx="7607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4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create_agent(llm, TOOLS,</a:t>
            </a:r>
            <a:endParaRPr lang="en-US" sz="10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4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system_prompt="Ты ассистент по коду")</a:t>
            </a:r>
            <a:endParaRPr lang="en-US" sz="1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Checkpointer: память после рестарта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3840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7626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38039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сохраняет своё состояние в SQLite после каждого узла. thread_id — имя разговора. Историю мы больше не храним сами: отправляем только новое сообщение, остальное граф поднимет из базы.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762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1950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7626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390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2 (рестарт)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31720" y="2642616"/>
            <a:ext cx="502920" cy="274320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2331720" y="3282696"/>
            <a:ext cx="502920" cy="274320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80360" y="2788920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21285C"/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278526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memory.sqlite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 main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04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 меня зовут?» → «Женя» 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2331720"/>
            <a:ext cx="3721608" cy="2377440"/>
          </a:xfrm>
          <a:prstGeom prst="roundRect">
            <a:avLst>
              <a:gd name="adj" fmla="val 3077"/>
            </a:avLst>
          </a:prstGeom>
          <a:solidFill>
            <a:srgbClr val="1A1F45"/>
          </a:solidFill>
          <a:ln/>
        </p:spPr>
      </p:sp>
      <p:sp>
        <p:nvSpPr>
          <p:cNvPr id="20" name="Shape 18"/>
          <p:cNvSpPr/>
          <p:nvPr/>
        </p:nvSpPr>
        <p:spPr>
          <a:xfrm>
            <a:off x="5056632" y="247802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24780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58968" y="247802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2423160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07_memory.ipynb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11496" y="2807208"/>
            <a:ext cx="32826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sqlite3.connect("memory.sqlite")</a:t>
            </a:r>
            <a:endParaRPr lang="en-US" sz="111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</a:t>
            </a:r>
            <a:endParaRPr lang="en-US" sz="111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1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checkpointer=SqliteSaver(db))</a:t>
            </a:r>
            <a:endParaRPr lang="en-US" sz="111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{"configurable":</a:t>
            </a:r>
            <a:endParaRPr lang="en-US" sz="111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1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{"thread_id": "main"}}</a:t>
            </a:r>
            <a:endParaRPr lang="en-US" sz="111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1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graph.stream({"messages": [new_msg]},</a:t>
            </a:r>
            <a:endParaRPr lang="en-US" sz="111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1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config)  # только новое</a:t>
            </a:r>
            <a:endParaRPr lang="en-US" sz="11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Опасное — только с разрешения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38404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F7626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38039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08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инструменты write_file и run_command меняют мир. Перед ними узел tools вызывает interrupt(): граф встаёт на паузу (состояние в SQLite), человек отвечает y/n, и граф продолжает с той же строки.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762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378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→ write_file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2633472"/>
            <a:ext cx="256032" cy="914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70048" y="2377440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21285C"/>
          </a:solidFill>
          <a:ln/>
        </p:spPr>
      </p:sp>
      <p:sp>
        <p:nvSpPr>
          <p:cNvPr id="14" name="Text 12"/>
          <p:cNvSpPr/>
          <p:nvPr/>
        </p:nvSpPr>
        <p:spPr>
          <a:xfrm>
            <a:off x="2761488" y="237378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interrupt():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98848" y="2633472"/>
            <a:ext cx="256032" cy="914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91456" y="2377440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FFD98E"/>
          </a:solidFill>
          <a:ln/>
        </p:spPr>
      </p:sp>
      <p:sp>
        <p:nvSpPr>
          <p:cNvPr id="17" name="Text 15"/>
          <p:cNvSpPr/>
          <p:nvPr/>
        </p:nvSpPr>
        <p:spPr>
          <a:xfrm>
            <a:off x="4882896" y="237378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человек: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/ 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83096" y="2633472"/>
            <a:ext cx="256032" cy="914"/>
          </a:xfrm>
          <a:prstGeom prst="line">
            <a:avLst/>
          </a:prstGeom>
          <a:noFill/>
          <a:ln w="25400">
            <a:solidFill>
              <a:srgbClr val="6E739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75704" y="2377440"/>
            <a:ext cx="1837944" cy="512064"/>
          </a:xfrm>
          <a:prstGeom prst="roundRect">
            <a:avLst>
              <a:gd name="adj" fmla="val 10714"/>
            </a:avLst>
          </a:prstGeom>
          <a:solidFill>
            <a:srgbClr val="3E7C64"/>
          </a:solidFill>
          <a:ln/>
        </p:spPr>
      </p:sp>
      <p:sp>
        <p:nvSpPr>
          <p:cNvPr id="20" name="Text 18"/>
          <p:cNvSpPr/>
          <p:nvPr/>
        </p:nvSpPr>
        <p:spPr>
          <a:xfrm>
            <a:off x="6867144" y="237378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Command(resume)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дальше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090672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1A1F45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3236976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236976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5568" y="3236976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1821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08_human_in_the_loop.ipynb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" y="3566160"/>
            <a:ext cx="4681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tools(state):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risky = [c for c in calls if c["name"] in DANGEROUS]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risky: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answer = interrupt(risky)   # пауза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answer != "y":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B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{"messages": [denied …]}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run_tools.invoke(state)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52160" y="3090672"/>
            <a:ext cx="2761488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16752" y="3154680"/>
            <a:ext cx="24323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— тоже ответ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получает «user denied» и меняет план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52160" y="3950208"/>
            <a:ext cx="2761488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16752" y="4014216"/>
            <a:ext cx="24323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checkpointer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пауза живёт в базе — без него interrupt не работает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08 вживую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1A1F4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293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293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19293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874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08_human_in_the_loop.ipynb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" y="2258568"/>
            <a:ext cx="449884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8A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ask("Создай hello.py … и запусти его")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D9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[agent] → write_file(path='hello.py', …)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B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⏸ ждёт подтверждения: write_file(…)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8A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graph.get_state(config).next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('tools',)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8A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resume("y")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D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[tools] write_file done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B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⏸ ждёт подтверждения: run_command(…)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8A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resume("y")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ai › Файл создан и запущен. Вывод: Hello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0" y="1783080"/>
            <a:ext cx="29443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33872" y="1847088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· cp .env.example .env · uv run jupyter lab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2532888"/>
            <a:ext cx="29443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33872" y="259689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 в 04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JSON-схему инструмента — ровно то, что получает модель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282696"/>
            <a:ext cx="29443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33872" y="3346704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 в 07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ячейка «перезапуска»: новый граф помнит имя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4032504"/>
            <a:ext cx="294436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33872" y="4096512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 в 08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resume("n") на удаление — файл останется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7626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6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658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62F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теперь умеем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внедрение AI-агентов · Занятие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858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2011680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89888" y="187452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— объект</a:t>
            </a:r>
            <a:endParaRPr lang="en-US" sz="13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/ stream / structured output через единый интерфейс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36592" y="1783080"/>
            <a:ext cx="3858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74336" y="2011680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13" name="Text 11"/>
          <p:cNvSpPr/>
          <p:nvPr/>
        </p:nvSpPr>
        <p:spPr>
          <a:xfrm>
            <a:off x="4974336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87452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3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просит tool_calls, выполняет наш код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3858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" y="3108960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89888" y="297180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= цикл</a:t>
            </a:r>
            <a:endParaRPr lang="en-US" sz="13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крутим «модель → инструменты», пока нет ответа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736592" y="2880360"/>
            <a:ext cx="38587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A0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74336" y="3108960"/>
            <a:ext cx="457200" cy="457200"/>
          </a:xfrm>
          <a:prstGeom prst="ellipse">
            <a:avLst/>
          </a:prstGeom>
          <a:solidFill>
            <a:srgbClr val="21285C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297180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262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даёт больше</a:t>
            </a:r>
            <a:endParaRPr lang="en-US" sz="13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после рестарта и паузы для подтверждений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2128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17423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6266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1559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08760" y="4160520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2 — Telegram + MCP: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7A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же агент переезжает в мессенджер (подтверждения кнопками) и получает инструменты из внешнего MCP-сервера.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и LangGraph: агент по шагам</dc:title>
  <dc:subject>PptxGenJS Presentation</dc:subject>
  <dc:creator>Чернов Евгений</dc:creator>
  <cp:lastModifiedBy>Чернов Евгений</cp:lastModifiedBy>
  <cp:revision>1</cp:revision>
  <dcterms:created xsi:type="dcterms:W3CDTF">2026-10-01T12:28:03Z</dcterms:created>
  <dcterms:modified xsi:type="dcterms:W3CDTF">2026-10-01T12:28:03Z</dcterms:modified>
</cp:coreProperties>
</file>