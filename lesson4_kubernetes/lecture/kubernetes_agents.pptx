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8" r:id="rId29"/>
    <p:sldId id="279" r:id="rId30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200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19.xml"/><Relationship Id="rId30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761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91440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064240" y="1463040"/>
            <a:ext cx="146304" cy="146304"/>
          </a:xfrm>
          <a:prstGeom prst="ellipse">
            <a:avLst/>
          </a:prstGeom>
          <a:solidFill>
            <a:srgbClr val="3C4788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692640" y="1554480"/>
            <a:ext cx="146304" cy="146304"/>
          </a:xfrm>
          <a:prstGeom prst="ellipse">
            <a:avLst/>
          </a:prstGeom>
          <a:solidFill>
            <a:srgbClr val="3C4788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789920" y="2377440"/>
            <a:ext cx="146304" cy="146304"/>
          </a:xfrm>
          <a:prstGeom prst="ellipse">
            <a:avLst/>
          </a:prstGeom>
          <a:solidFill>
            <a:srgbClr val="3C4788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430000" y="2103120"/>
            <a:ext cx="146304" cy="146304"/>
          </a:xfrm>
          <a:prstGeom prst="ellipse">
            <a:avLst/>
          </a:prstGeom>
          <a:ln w="1905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058400" y="2286000"/>
            <a:ext cx="146304" cy="146304"/>
          </a:xfrm>
          <a:prstGeom prst="ellipse">
            <a:avLst/>
          </a:prstGeom>
          <a:solidFill>
            <a:srgbClr val="2E376E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155680" y="640080"/>
            <a:ext cx="146304" cy="146304"/>
          </a:xfrm>
          <a:prstGeom prst="ellipse">
            <a:avLst/>
          </a:prstGeom>
          <a:solidFill>
            <a:srgbClr val="2E376E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405872" y="987552"/>
            <a:ext cx="713232" cy="548640"/>
          </a:xfrm>
          <a:prstGeom prst="line">
            <a:avLst/>
          </a:prstGeom>
          <a:noFill/>
          <a:ln w="12700">
            <a:solidFill>
              <a:srgbClr val="3C4788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65792" y="1627632"/>
            <a:ext cx="658368" cy="0"/>
          </a:xfrm>
          <a:prstGeom prst="line">
            <a:avLst/>
          </a:prstGeom>
          <a:noFill/>
          <a:ln w="12700">
            <a:solidFill>
              <a:srgbClr val="3C478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131552" y="2286000"/>
            <a:ext cx="713232" cy="0"/>
          </a:xfrm>
          <a:prstGeom prst="line">
            <a:avLst/>
          </a:prstGeom>
          <a:noFill/>
          <a:ln w="12700">
            <a:solidFill>
              <a:srgbClr val="3C478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14400" y="1737360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80160" y="17007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 4   ·   AI-АГЕНТЫ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1488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</a:t>
            </a:r>
            <a:endParaRPr lang="en-US" sz="7600" dirty="0"/>
          </a:p>
        </p:txBody>
      </p:sp>
      <p:sp>
        <p:nvSpPr>
          <p:cNvPr id="15" name="Text 13"/>
          <p:cNvSpPr/>
          <p:nvPr/>
        </p:nvSpPr>
        <p:spPr>
          <a:xfrm>
            <a:off x="914400" y="36118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Разворачиваем мультиагентную систему:</a:t>
            </a:r>
            <a:endParaRPr lang="en-US" sz="1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поды, сервисы, масштабирование и состояние агентов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932688" y="5074920"/>
            <a:ext cx="2926080" cy="0"/>
          </a:xfrm>
          <a:prstGeom prst="line">
            <a:avLst/>
          </a:prstGeom>
          <a:noFill/>
          <a:ln w="19050">
            <a:solidFill>
              <a:srgbClr val="3C478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4400" y="5212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 Евгений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Telegram: @awe_eu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МЫ НАХОДИМСЯ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Программа курса: от первого агента до кластера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440680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Разработка и внедрение AI-агентов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" y="2889504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96112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26464" y="286207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LangGraph: агент и граф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96112" y="3465576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96112" y="3465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26464" y="343814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Интеграции: MCP, веб-чат, Telegram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96112" y="4041648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96112" y="4041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26464" y="401421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агентов: A2A и Langfuse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77240" y="4562856"/>
            <a:ext cx="5029200" cy="512064"/>
          </a:xfrm>
          <a:prstGeom prst="roundRect">
            <a:avLst>
              <a:gd name="adj" fmla="val 10714"/>
            </a:avLst>
          </a:prstGeom>
          <a:solidFill>
            <a:srgbClr val="FDE9EA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96112" y="4617720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96112" y="4617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26464" y="45902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Kubernetes: агенты в кластере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172200" y="1737360"/>
            <a:ext cx="5440680" cy="4251960"/>
          </a:xfrm>
          <a:prstGeom prst="roundRect">
            <a:avLst>
              <a:gd name="adj" fmla="val 1935"/>
            </a:avLst>
          </a:prstGeom>
          <a:solidFill>
            <a:srgbClr val="21295C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73952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73952" y="22402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пода к мультиагентной системе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501384" y="3017520"/>
            <a:ext cx="402336" cy="402336"/>
          </a:xfrm>
          <a:prstGeom prst="ellipse">
            <a:avLst/>
          </a:prstGeom>
          <a:solidFill>
            <a:srgbClr val="37407C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501384" y="3017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40880" y="299008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Основы на hello-agent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501384" y="3675888"/>
            <a:ext cx="402336" cy="402336"/>
          </a:xfrm>
          <a:prstGeom prst="ellipse">
            <a:avLst/>
          </a:prstGeom>
          <a:solidFill>
            <a:srgbClr val="37407C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501384" y="3675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40880" y="364845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в кластере: том и Job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6501384" y="4334256"/>
            <a:ext cx="402336" cy="402336"/>
          </a:xfrm>
          <a:prstGeom prst="ellipse">
            <a:avLst/>
          </a:prstGeom>
          <a:solidFill>
            <a:srgbClr val="37407C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501384" y="4334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40880" y="4306824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Мультиагентная система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6501384" y="4992624"/>
            <a:ext cx="402336" cy="402336"/>
          </a:xfrm>
          <a:prstGeom prst="ellipse">
            <a:avLst/>
          </a:prstGeom>
          <a:solidFill>
            <a:srgbClr val="37407C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501384" y="4992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40880" y="496519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 и состояние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Занятие 4  ·  AI-агенты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нужен Kubernetes?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627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Представьте систему в проде, которой нужно постоянно обеспечивать четыре свойства: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24231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30632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Балансировка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Равномерно распределять нагрузку по нодам и репликам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55848" y="21488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11880" y="24231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118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93592" y="30632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Обновления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11880" y="352044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Выкатывать новые версии без простоя и с откатом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44768" y="21488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0" y="24231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82512" y="30632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Отказоустойчивость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0" y="352044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Перезапускать упавшие сервисы и держать нужное число реплик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33688" y="21488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89720" y="24231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18972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71432" y="30632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Изоляция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89720" y="352044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Разделять окружения и ресурсы между приложениями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4800600"/>
            <a:ext cx="11055096" cy="123444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68680" y="50749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68680" y="502920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1828800" y="50292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что умеет Docker?  </a:t>
            </a:r>
            <a:r>
              <a:rPr lang="en-US" sz="1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изоляцию.</a:t>
            </a:r>
            <a:r>
              <a:rPr lang="en-US" sz="150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Балансировку, обновления и самовосстановление берёт на себя Kubernetes.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Занятие 4  ·  AI-агенты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«железа» к оркестрации контейнеров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1055096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6" name="Image 0" descr="Схема Kubernet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180" y="1920240"/>
            <a:ext cx="5770880" cy="3246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53212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→ Virtualized → Container → Kubernetes.  </a:t>
            </a:r>
            <a:r>
              <a:rPr lang="en-US" sz="13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Контейнеры дают лёгкую изоляцию поверх одной ОС, а Kubernetes добавляет управление их жизненным циклом на кластере машин.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Занятие 4  ·  AI-агенты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Kubernetes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11055096" cy="1051560"/>
          </a:xfrm>
          <a:prstGeom prst="roundRect">
            <a:avLst>
              <a:gd name="adj" fmla="val 7826"/>
            </a:avLst>
          </a:prstGeom>
          <a:solidFill>
            <a:srgbClr val="ECEEF7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7830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(k8s) — </a:t>
            </a:r>
            <a:r>
              <a:rPr lang="en-US" sz="16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для автоматизации деплоя, масштабирования и управления контейнеризированными приложениями на кластере машин.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2971800"/>
            <a:ext cx="544068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3227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Поддерживаемые container runtime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96112" y="377647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70432" y="363931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containerd  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стандарт де-факто, используется в k8s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96112" y="432511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70432" y="41879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CRI-O  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лёгкий runtime под Kubernetes CRI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96112" y="48737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70432" y="473659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через shim; исторически самый известный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96112" y="54223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70432" y="52852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podman / rkt  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альтернативные движки контейнеров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81344" y="2971800"/>
            <a:ext cx="544068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83096" y="3227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запустить кластер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83096" y="37947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83096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77456" y="3749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Локально
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 — учебный кластер на своём ноутбуке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83096" y="4507992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83096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77456" y="446227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Лёгкий дистрибутив
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 — минимальный k8s для edge и стендов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83096" y="5221224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83096" y="5221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77456" y="517550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облаке
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Yandex Cloud через terraform или меню администратора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Занятие 4  ·  AI-агенты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устроен кластер: Control Plane и рабочие ноды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7635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6" name="Image 0" descr="Схема Kubernet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633" y="1874520"/>
            <a:ext cx="4858973" cy="3794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0" y="1691640"/>
            <a:ext cx="3200400" cy="4160520"/>
          </a:xfrm>
          <a:prstGeom prst="roundRect">
            <a:avLst>
              <a:gd name="adj" fmla="val 2571"/>
            </a:avLst>
          </a:prstGeom>
          <a:solidFill>
            <a:srgbClr val="21295C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0" y="1947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уровня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0" y="256032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942832" y="24231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
</a:t>
            </a:r>
            <a:r>
              <a:rPr lang="en-US" sz="120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«мозг» кластера: принимает решения, хранит состояние, планирует размещение подов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686800" y="36118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942832" y="34747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Nodes
</a:t>
            </a:r>
            <a:r>
              <a:rPr lang="en-US" sz="120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рабочие машины: на них реально запускаются контейнеры с приложениями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686800" y="466344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942832" y="45262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
</a:t>
            </a:r>
            <a:r>
              <a:rPr lang="en-US" sz="120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администратора — команды идут в kube-apiserver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Занятие 4  ·  AI-агенты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 чего собран кластер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645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— управляющий слой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267004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86384" y="2212848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kube-apiserver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" y="2724912"/>
            <a:ext cx="2258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точка входа в кластер; через него идут все команды и запросы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5848" y="2011680"/>
            <a:ext cx="267004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575304" y="2212848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etcd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75304" y="2724912"/>
            <a:ext cx="2258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распределённое хранилище состояния: что и где запущено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44768" y="2011680"/>
            <a:ext cx="267004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64224" y="2212848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64224" y="2724912"/>
            <a:ext cx="2258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решает, на какую ноду поставить новый под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33688" y="2011680"/>
            <a:ext cx="267004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53144" y="2212848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controller-manager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53144" y="2724912"/>
            <a:ext cx="2258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следит, чтобы фактическое состояние сходилось с желаемым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3931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 — рабочий слой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768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ECEEF7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45171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kubelet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95604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ноды: запускает контейнеры и следит за их состоянием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51960" y="429768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ECEEF7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07992" y="45171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runtime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07992" y="495604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движок контейнеров (containerd / CRI-O), исполняет образы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936992" y="429768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ECEEF7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193024" y="45171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kube-proxy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93024" y="495604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сетевые правила: маршрутизация трафика к подам сервиса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Занятие 4  ·  AI-агенты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СЕТЕВОЙ ДОСТУП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клиент и админ достигают сервисов в кластере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704088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6" name="Image 0" descr="Схема Kubernet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193" y="1874520"/>
            <a:ext cx="3629494" cy="3794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1691640"/>
            <a:ext cx="3794760" cy="4160520"/>
          </a:xfrm>
          <a:prstGeom prst="roundRect">
            <a:avLst>
              <a:gd name="adj" fmla="val 2169"/>
            </a:avLst>
          </a:prstGeom>
          <a:solidFill>
            <a:srgbClr val="ECEEF7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074152" y="2020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330184" y="189280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→ снаружи
</a:t>
            </a: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Трафик идёт через Load Balancer (L4) на Ingress-контроллер, а тот — на нужный Service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074152" y="300837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33018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
</a:t>
            </a: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HTTP/HTTPS; терминирует TLS и роутит по хостам и путям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074152" y="399592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330184" y="386791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 → kubectl
</a:t>
            </a: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команды идут в kube-apiserver, а не напрямую к подам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074152" y="4983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330184" y="485546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
</a:t>
            </a: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собирает метрики, Grafana их визуализирует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Занятие 4  ·  AI-агенты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 · POD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 — атомарная единица запуска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920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</a:t>
            </a:r>
            <a:r>
              <a:rPr lang="en-US" sz="14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наименьшая сущность в k8s. Это один или несколько контейнеров с общими сетью, IP-адресом и томами.</a:t>
            </a:r>
            <a:endParaRPr lang="en-US" sz="1500" dirty="0"/>
          </a:p>
        </p:txBody>
      </p:sp>
      <p:pic>
        <p:nvPicPr>
          <p:cNvPr id="7" name="Image 0" descr="Схема Kubernet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543" y="2788920"/>
            <a:ext cx="4190594" cy="1874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892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Pod получает собственный IP; контейнеры внутри общаются через localhost.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1A1F40"/>
          </a:solidFill>
          <a:ln/>
          <a:effectLst>
            <a:outerShdw blurRad="152400" dist="38100" dir="5400000" algn="bl" rotWithShape="0">
              <a:srgbClr val="20264F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6480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29400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793992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086600" y="180136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pod.yaml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19672" y="2148840"/>
            <a:ext cx="4892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v1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Pod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agent-pod-1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hello-agent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containers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agent-pod-1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hello-agent:1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{ cpu: 50m, memory: 32Mi }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limits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{ cpu: 200m, memory: 64Mi }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ports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containerPort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F3C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8080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Занятие 4  ·  AI-агенты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 · REPLICASET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ReplicaSet — поддержание нужного числа реплик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1A1F40"/>
          </a:solidFill>
          <a:ln/>
          <a:effectLst>
            <a:outerShdw blurRad="152400" dist="38100" dir="5400000" algn="bl" rotWithShape="0">
              <a:srgbClr val="20264F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68096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32688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97280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89888" y="18013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replicaset.yaml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14884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apps/v1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ReplicaSet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hello-agent-rs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replicas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F3C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matchLabels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hello-agent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app: hello-agent }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containers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</a:t>
            </a: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agent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r>
              <a:rPr lang="en-US" sz="12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hello-agent:1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65392" y="194767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делает ReplicaSet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65392" y="256032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65392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59752" y="250545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Держит N подов
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Всегда поддерживает заданное число реплик (replicas: 4)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65392" y="3346704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65392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59752" y="32918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по меткам
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Управляет подами, чьи labels совпадают с selector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65392" y="4133088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565392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59752" y="407822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Самовосстановление
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Удалили под — RS тут же поднимает новый на замену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65392" y="4919472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65392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59752" y="486460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
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Меняем replicas в манифесте — число подов подстраивается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Занятие 4  ·  AI-агенты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 · DEPLOYMENT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— управление состоянием приложения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67665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6" name="Image 0" descr="Схема Kubernet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227" y="1874520"/>
            <a:ext cx="4993105" cy="3794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691640"/>
            <a:ext cx="4069080" cy="4160520"/>
          </a:xfrm>
          <a:prstGeom prst="roundRect">
            <a:avLst>
              <a:gd name="adj" fmla="val 2022"/>
            </a:avLst>
          </a:prstGeom>
          <a:solidFill>
            <a:srgbClr val="ECEEF7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818120" y="19293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→ ReplicaSet → Pods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818120" y="25146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074152" y="239572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Декларативные обновления
</a:t>
            </a: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задаём желаемый образ — k8s сам плавно заменяет поды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818120" y="33649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074152" y="3246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ревизий
</a:t>
            </a: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rollout history — видно все версии деплоя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818120" y="42153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074152" y="409651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Откат в один шаг
</a:t>
            </a: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rollout undo возвращает предыдущую ревизию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818120" y="506577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074152" y="4946904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RollingUpdate
</a:t>
            </a: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maxUnavailable / maxSurge — обновление без простоя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Занятие 4  ·  AI-агенты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 · DEPLOYMENT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Стратегия обновления и операции rollout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806440" cy="4160520"/>
          </a:xfrm>
          <a:prstGeom prst="roundRect">
            <a:avLst>
              <a:gd name="adj" fmla="val 1758"/>
            </a:avLst>
          </a:prstGeom>
          <a:solidFill>
            <a:srgbClr val="1A1F40"/>
          </a:solidFill>
          <a:ln/>
          <a:effectLst>
            <a:outerShdw blurRad="152400" dist="38100" dir="5400000" algn="bl" rotWithShape="0">
              <a:srgbClr val="20264F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68096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32688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97280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89888" y="180136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deployment.yaml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apps/v1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Deployment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name: hello-agent }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replicas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50" dirty="0">
                <a:solidFill>
                  <a:srgbClr val="F3C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RollingUpdate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rollingUpdate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maxUnavailable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50" dirty="0">
                <a:solidFill>
                  <a:srgbClr val="F3C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maxSurge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50" dirty="0">
                <a:solidFill>
                  <a:srgbClr val="F3C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matchLabels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app: hello-agent }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labels: { app: hello-agent } }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nodeSelector: { load: high }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containers</a:t>
            </a: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{ name: agent, image: hello-agent:1 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1691640"/>
            <a:ext cx="5029200" cy="2331720"/>
          </a:xfrm>
          <a:prstGeom prst="roundRect">
            <a:avLst>
              <a:gd name="adj" fmla="val 3137"/>
            </a:avLst>
          </a:prstGeom>
          <a:solidFill>
            <a:srgbClr val="1A1F40"/>
          </a:solidFill>
          <a:ln/>
          <a:effectLst>
            <a:outerShdw blurRad="152400" dist="38100" dir="5400000" algn="bl" rotWithShape="0">
              <a:srgbClr val="20264F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78484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949440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114032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406640" y="18013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rollout — управление выкаткой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39712" y="214884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rollout history deploy/hello-agent</a:t>
            </a:r>
            <a:endParaRPr lang="en-US" sz="11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apply -f deployment.yaml  # образ :2</a:t>
            </a:r>
            <a:endParaRPr lang="en-US" sz="11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rollout status deploy/hello-agent</a:t>
            </a:r>
            <a:endParaRPr lang="en-US" sz="11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rollout undo deploy/hello-agent   # откат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0" y="4206240"/>
            <a:ext cx="5029200" cy="1645920"/>
          </a:xfrm>
          <a:prstGeom prst="roundRect">
            <a:avLst>
              <a:gd name="adj" fmla="val 5000"/>
            </a:avLst>
          </a:prstGeom>
          <a:solidFill>
            <a:srgbClr val="ECEEF7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0" y="4389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Размещение по нодам (nodeSelector)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475488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label nodes minikube-m02 load=high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Добавляем nodeSelector в манифест — и поды переезжают только на ноды с нужной меткой.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Занятие 4  ·  AI-агенты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 · SERVICE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— стабильная точка доступа к подам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11055096" cy="1005840"/>
          </a:xfrm>
          <a:prstGeom prst="roundRect">
            <a:avLst>
              <a:gd name="adj" fmla="val 8182"/>
            </a:avLst>
          </a:prstGeom>
          <a:solidFill>
            <a:srgbClr val="ECEEF7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75564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</a:t>
            </a:r>
            <a:r>
              <a:rPr lang="en-US" sz="15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логическая абстракция: единый IP и DNS-имя, за которыми через </a:t>
            </a: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label-селекторы </a:t>
            </a:r>
            <a:r>
              <a:rPr lang="en-US" sz="15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скрывается набор подов. Поды приходят и уходят — адрес Service остаётся постоянным.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788920"/>
            <a:ext cx="768096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8" name="Image 0" descr="Схема Kubernet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143" y="2971800"/>
            <a:ext cx="2545674" cy="2697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58200" y="2788920"/>
            <a:ext cx="3172968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714232" y="3008376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работают селекторы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714232" y="3447288"/>
            <a:ext cx="27157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несёт метки, например app: hello-agent.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задаёт selector app: hello-agent и связывает все совпавшие поды.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Трафик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балансируется между ними автоматически.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Занятие 4  ·  AI-агенты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 · SERVICE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типа Service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3584448" cy="3703320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59536" y="21945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CEEF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9536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59536" y="306324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59536" y="356616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УМОЛЧАНИЮ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9536" y="40233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 IP, доступный только внутри кластера. Для связи сервисов между собой.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97680" y="1874520"/>
            <a:ext cx="3584448" cy="3703320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90288" y="21945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CEEF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90288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90288" y="306324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NodePort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90288" y="356616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 НА НОДАХ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90288" y="40233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 один порт на каждой ноде (30000–32767). Простой внешний доступ для стендов.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28432" y="1874520"/>
            <a:ext cx="3584448" cy="3703320"/>
          </a:xfrm>
          <a:prstGeom prst="roundRect">
            <a:avLst>
              <a:gd name="adj" fmla="val 2296"/>
            </a:avLst>
          </a:prstGeom>
          <a:solidFill>
            <a:srgbClr val="21295C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321040" y="21945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2104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21040" y="306324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LoadBalancer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21040" y="356616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В ОБЛАКЕ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21040" y="40233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Провайдер поднимает внешний балансировщик с публичным IP перед сервисом.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Занятие 4  ·  AI-агенты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 · SERVICE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типа Service — наглядно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3584448" cy="4160520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87452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ClusterIP</a:t>
            </a:r>
            <a:endParaRPr lang="en-US" sz="1600" dirty="0"/>
          </a:p>
        </p:txBody>
      </p:sp>
      <p:pic>
        <p:nvPicPr>
          <p:cNvPr id="7" name="Image 0" descr="Схема Kubernet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342728"/>
            <a:ext cx="3218688" cy="294978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367528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внутри кластера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84448" cy="4160520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480560" y="187452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NodePort</a:t>
            </a:r>
            <a:endParaRPr lang="en-US" sz="1600" dirty="0"/>
          </a:p>
        </p:txBody>
      </p:sp>
      <p:pic>
        <p:nvPicPr>
          <p:cNvPr id="11" name="Image 1" descr="Схема Kubernet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5709" y="2331720"/>
            <a:ext cx="2708390" cy="2971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5367528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 на каждой ноде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028432" y="1691640"/>
            <a:ext cx="3584448" cy="4160520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8211312" y="187452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LoadBalancer</a:t>
            </a:r>
            <a:endParaRPr lang="en-US" sz="1600" dirty="0"/>
          </a:p>
        </p:txBody>
      </p:sp>
      <p:pic>
        <p:nvPicPr>
          <p:cNvPr id="15" name="Image 2" descr="Схема Kubernet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5369" y="2331720"/>
            <a:ext cx="2750574" cy="2971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11312" y="5367528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 IP из облака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Занятие 4  ·  AI-агенты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 · INGRESS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Ingress — единая точка входа HTTP/HTTPS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11055096" cy="960120"/>
          </a:xfrm>
          <a:prstGeom prst="roundRect">
            <a:avLst>
              <a:gd name="adj" fmla="val 8571"/>
            </a:avLst>
          </a:prstGeom>
          <a:solidFill>
            <a:srgbClr val="ECEEF7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7373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</a:t>
            </a:r>
            <a:r>
              <a:rPr lang="en-US" sz="15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объект k8s API, который выставляет HTTP/HTTPS-роуты снаружи кластера и по хосту/пути направляет трафик на внутренние сервисы. Работает через Ingress-контроллер (например, nginx).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777240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8" name="Image 0" descr="Схема Kubernet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301" y="2926080"/>
            <a:ext cx="3836798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49640" y="2743200"/>
            <a:ext cx="3081528" cy="3108960"/>
          </a:xfrm>
          <a:prstGeom prst="roundRect">
            <a:avLst>
              <a:gd name="adj" fmla="val 267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805672" y="2944368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нужен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805672" y="3447288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043416" y="3319272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вход вместо множества NodePort / LoadBalancer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805672" y="401421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043416" y="388620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Роутинг по хостам: agents.test, risk.agents.test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805672" y="4581144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043416" y="4453128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Роутинг по путям: /, /api, /metrics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805672" y="514807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043416" y="5020056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Терминация TLS в одном месте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Занятие 4  ·  AI-агенты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КОНФИГУРАЦИЯ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ConfigMap и Secrets — отделяем настройки от кода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673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ConfigMap — несекретные настройки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05740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1A1F40"/>
          </a:solidFill>
          <a:ln/>
          <a:effectLst>
            <a:outerShdw blurRad="152400" dist="38100" dir="5400000" algn="bl" rotWithShape="0">
              <a:srgbClr val="20264F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68096" y="22402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32688" y="22402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97280" y="22402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389888" y="21671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configmap.yaml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5146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v1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ConfigMap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name: hello-agent-config }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config.yaml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|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F3C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openai/gpt-4o-mini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F3C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38912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ECEEF7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457200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Монтируется как файл: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volumeMounts → /etc/agent
</a:t>
            </a:r>
            <a:r>
              <a:rPr lang="en-US" sz="13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пода — обычный файл /etc/agent/config.yaml.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1673352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 — чувствительные данные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63640" y="20574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A1F40"/>
          </a:solidFill>
          <a:ln/>
          <a:effectLst>
            <a:outerShdw blurRad="152400" dist="38100" dir="5400000" algn="bl" rotWithShape="0">
              <a:srgbClr val="20264F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64808" y="22402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629400" y="22402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793992" y="22402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086600" y="216712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secret.yaml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19672" y="251460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v1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Secret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name: hello-agent-secret }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Opaque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c2stZGVtbw==   </a:t>
            </a:r>
            <a:r>
              <a:rPr lang="en-US" sz="125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sk-demo  (base64)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DB_PASSWORD</a:t>
            </a:r>
            <a:r>
              <a:rPr lang="en-US" sz="125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c2VjcmV0   </a:t>
            </a:r>
            <a:r>
              <a:rPr lang="en-US" sz="125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secret (base64)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438912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ECEEF7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19672" y="45720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Значения в base64, не шифрование: </a:t>
            </a: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-n sk-demo | base64
</a:t>
            </a:r>
            <a:r>
              <a:rPr lang="en-US" sz="13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Пробрасывается в под как переменные окружения через secretKeyRef.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Занятие 4  ·  AI-агенты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НАБЛЮДАЕМОСТЬ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Мониторинг кластера: Prometheus + Grafana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8064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1993392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53312" y="18745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kube-prometheus-stack
</a:t>
            </a: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Ставим Helm-чартом в namespace monitoring — сразу Prometheus, Grafana и экспортёры метрик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807208"/>
            <a:ext cx="58064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77240" y="306324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53312" y="294436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Exporter
</a:t>
            </a: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 встаёт на все ноды и отдаёт метрики хостов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877056"/>
            <a:ext cx="58064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77240" y="4133088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53312" y="4014216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↔ Prometheus
</a:t>
            </a: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подключается к prometheus-operated:9090; дашборды кластера из коробки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4946904"/>
            <a:ext cx="58064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77240" y="5202936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53312" y="5084064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дашборд
</a:t>
            </a: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«Агенты в кластере»: память, CPU, реплики и перезапуски агентов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83680" y="1737360"/>
            <a:ext cx="5029200" cy="2514600"/>
          </a:xfrm>
          <a:prstGeom prst="roundRect">
            <a:avLst>
              <a:gd name="adj" fmla="val 2909"/>
            </a:avLst>
          </a:prstGeom>
          <a:solidFill>
            <a:srgbClr val="1A1F40"/>
          </a:solidFill>
          <a:ln/>
          <a:effectLst>
            <a:outerShdw blurRad="152400" dist="38100" dir="5400000" algn="bl" rotWithShape="0">
              <a:srgbClr val="20264F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784848" y="192024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949440" y="192024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114032" y="192024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406640" y="18470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установка стека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39712" y="219456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create namespace monitoring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helm install prometheus \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prometheus-community/kube-prometheus-stack \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--namespace monitoring \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-f part_9_monitoring/values.yaml \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--version 65.1.1 --wait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4453128"/>
            <a:ext cx="5029200" cy="1399032"/>
          </a:xfrm>
          <a:prstGeom prst="roundRect">
            <a:avLst>
              <a:gd name="adj" fmla="val 5882"/>
            </a:avLst>
          </a:prstGeom>
          <a:solidFill>
            <a:srgbClr val="21295C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58000" y="46177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Доступ через Ingress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0" y="495604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grafana.agents.test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prometheus.agents.test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логин / пароль Grafana: admin / admin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Занятие 4  ·  AI-агенты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АГЕНТЫ В КЛАСТЕРЕ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наша мультиагентная система ложится в кластер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7635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8412480" y="1691640"/>
            <a:ext cx="3200400" cy="4160520"/>
          </a:xfrm>
          <a:prstGeom prst="roundRect">
            <a:avLst>
              <a:gd name="adj" fmla="val 2571"/>
            </a:avLst>
          </a:prstGeom>
          <a:solidFill>
            <a:srgbClr val="21295C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0" y="1947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здесь важно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0" y="256032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942832" y="24231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Снаружи — только риск-менеджер
</a:t>
            </a:r>
            <a:r>
              <a:rPr lang="en-US" sz="120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risk.agents.test; аналитик и MCP видны лишь агентам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686800" y="36118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942832" y="34747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Адреса — имена Service
</a:t>
            </a:r>
            <a:r>
              <a:rPr lang="en-US" sz="120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analyst:8102, bank-mcp:8101 — прописаны в ConfigMap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686800" y="466344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942832" y="45262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образ — разные роли
</a:t>
            </a:r>
            <a:r>
              <a:rPr lang="en-US" sz="120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bank-agents:1, роль задаёт command: в манифесте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Занятие 4  ·  AI-агенты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17" name="Diagram risk-manager"/>
          <p:cNvSpPr/>
          <p:nvPr/>
        </p:nvSpPr>
        <p:spPr>
          <a:xfrm>
            <a:off x="804672" y="2926080"/>
            <a:ext cx="1481328" cy="1325880"/>
          </a:xfrm>
          <a:prstGeom prst="roundRect">
            <a:avLst>
              <a:gd name="adj" fmla="val 12000"/>
            </a:avLst>
          </a:prstGeom>
          <a:solidFill>
            <a:srgbClr val="F4F5F9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21295C"/>
                </a:solidFill>
                <a:latin typeface="Calibri"/>
              </a:rPr>
              <a:t>risk-manager</a:t>
            </a:r>
          </a:p>
          <a:p>
            <a:pPr algn="ctr"/>
            <a:r>
              <a:rPr sz="1100" b="0">
                <a:solidFill>
                  <a:srgbClr val="21295C"/>
                </a:solidFill>
                <a:latin typeface="Calibri"/>
              </a:rPr>
              <a:t>A2A · с памятью</a:t>
            </a:r>
          </a:p>
          <a:p>
            <a:pPr algn="ctr"/>
            <a:r>
              <a:rPr sz="1100" b="0">
                <a:solidFill>
                  <a:srgbClr val="21295C"/>
                </a:solidFill>
                <a:latin typeface="Calibri"/>
              </a:rPr>
              <a:t>×1 → 2  ·  :8103</a:t>
            </a:r>
          </a:p>
        </p:txBody>
      </p:sp>
      <p:sp>
        <p:nvSpPr>
          <p:cNvPr id="18" name="Diagram analyst"/>
          <p:cNvSpPr/>
          <p:nvPr/>
        </p:nvSpPr>
        <p:spPr>
          <a:xfrm>
            <a:off x="2743200" y="2926080"/>
            <a:ext cx="1481328" cy="1325880"/>
          </a:xfrm>
          <a:prstGeom prst="roundRect">
            <a:avLst>
              <a:gd name="adj" fmla="val 12000"/>
            </a:avLst>
          </a:prstGeom>
          <a:solidFill>
            <a:srgbClr val="F4F5F9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21295C"/>
                </a:solidFill>
                <a:latin typeface="Calibri"/>
              </a:rPr>
              <a:t>analyst</a:t>
            </a:r>
          </a:p>
          <a:p>
            <a:pPr algn="ctr"/>
            <a:r>
              <a:rPr sz="1100" b="0">
                <a:solidFill>
                  <a:srgbClr val="21295C"/>
                </a:solidFill>
                <a:latin typeface="Calibri"/>
              </a:rPr>
              <a:t>A2A · без памяти</a:t>
            </a:r>
          </a:p>
          <a:p>
            <a:pPr algn="ctr"/>
            <a:r>
              <a:rPr sz="1100" b="0">
                <a:solidFill>
                  <a:srgbClr val="21295C"/>
                </a:solidFill>
                <a:latin typeface="Calibri"/>
              </a:rPr>
              <a:t>×2 → 4  ·  :8102</a:t>
            </a:r>
          </a:p>
        </p:txBody>
      </p:sp>
      <p:sp>
        <p:nvSpPr>
          <p:cNvPr id="19" name="Diagram bank-mcp"/>
          <p:cNvSpPr/>
          <p:nvPr/>
        </p:nvSpPr>
        <p:spPr>
          <a:xfrm>
            <a:off x="4681728" y="2926080"/>
            <a:ext cx="1481328" cy="1325880"/>
          </a:xfrm>
          <a:prstGeom prst="roundRect">
            <a:avLst>
              <a:gd name="adj" fmla="val 12000"/>
            </a:avLst>
          </a:prstGeom>
          <a:solidFill>
            <a:srgbClr val="F4F5F9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21295C"/>
                </a:solidFill>
                <a:latin typeface="Calibri"/>
              </a:rPr>
              <a:t>bank-mcp</a:t>
            </a:r>
          </a:p>
          <a:p>
            <a:pPr algn="ctr"/>
            <a:r>
              <a:rPr sz="1100" b="0">
                <a:solidFill>
                  <a:srgbClr val="21295C"/>
                </a:solidFill>
                <a:latin typeface="Calibri"/>
              </a:rPr>
              <a:t>MCP · stateless</a:t>
            </a:r>
          </a:p>
          <a:p>
            <a:pPr algn="ctr"/>
            <a:r>
              <a:rPr sz="1100" b="0">
                <a:solidFill>
                  <a:srgbClr val="21295C"/>
                </a:solidFill>
                <a:latin typeface="Calibri"/>
              </a:rPr>
              <a:t>×2  ·  :8101</a:t>
            </a:r>
          </a:p>
        </p:txBody>
      </p:sp>
      <p:sp>
        <p:nvSpPr>
          <p:cNvPr id="20" name="Diagram bank-db"/>
          <p:cNvSpPr/>
          <p:nvPr/>
        </p:nvSpPr>
        <p:spPr>
          <a:xfrm>
            <a:off x="6620256" y="2926080"/>
            <a:ext cx="1481328" cy="1325880"/>
          </a:xfrm>
          <a:prstGeom prst="roundRect">
            <a:avLst>
              <a:gd name="adj" fmla="val 12000"/>
            </a:avLst>
          </a:prstGeom>
          <a:solidFill>
            <a:srgbClr val="F4F5F9"/>
          </a:solidFill>
          <a:ln w="19050">
            <a:solidFill>
              <a:srgbClr val="6B71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21295C"/>
                </a:solidFill>
                <a:latin typeface="Calibri"/>
              </a:rPr>
              <a:t>bank-db</a:t>
            </a:r>
          </a:p>
          <a:p>
            <a:pPr algn="ctr"/>
            <a:r>
              <a:rPr sz="1100" b="0">
                <a:solidFill>
                  <a:srgbClr val="21295C"/>
                </a:solidFill>
                <a:latin typeface="Calibri"/>
              </a:rPr>
              <a:t>Postgres + том</a:t>
            </a:r>
          </a:p>
          <a:p>
            <a:pPr algn="ctr"/>
            <a:r>
              <a:rPr sz="1100" b="0">
                <a:solidFill>
                  <a:srgbClr val="21295C"/>
                </a:solidFill>
                <a:latin typeface="Calibri"/>
              </a:rPr>
              <a:t>×1  ·  :5432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86000" y="3589020"/>
            <a:ext cx="457200" cy="0"/>
          </a:xfrm>
          <a:prstGeom prst="line">
            <a:avLst/>
          </a:prstGeom>
          <a:ln w="25400">
            <a:solidFill>
              <a:srgbClr val="F961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iagram label A2A"/>
          <p:cNvSpPr txBox="1"/>
          <p:nvPr/>
        </p:nvSpPr>
        <p:spPr>
          <a:xfrm>
            <a:off x="2286000" y="3259836"/>
            <a:ext cx="4572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0">
                <a:solidFill>
                  <a:srgbClr val="F96167"/>
                </a:solidFill>
                <a:latin typeface="Calibri"/>
              </a:rPr>
              <a:t>A2A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224528" y="3589020"/>
            <a:ext cx="457200" cy="0"/>
          </a:xfrm>
          <a:prstGeom prst="line">
            <a:avLst/>
          </a:prstGeom>
          <a:ln w="25400">
            <a:solidFill>
              <a:srgbClr val="F961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iagram label MCP"/>
          <p:cNvSpPr txBox="1"/>
          <p:nvPr/>
        </p:nvSpPr>
        <p:spPr>
          <a:xfrm>
            <a:off x="4224528" y="3259836"/>
            <a:ext cx="4572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0">
                <a:solidFill>
                  <a:srgbClr val="F96167"/>
                </a:solidFill>
                <a:latin typeface="Calibri"/>
              </a:rPr>
              <a:t>MCP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63056" y="3589020"/>
            <a:ext cx="457200" cy="0"/>
          </a:xfrm>
          <a:prstGeom prst="line">
            <a:avLst/>
          </a:prstGeom>
          <a:ln w="25400">
            <a:solidFill>
              <a:srgbClr val="F961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iagram label SQL"/>
          <p:cNvSpPr txBox="1"/>
          <p:nvPr/>
        </p:nvSpPr>
        <p:spPr>
          <a:xfrm>
            <a:off x="6163056" y="3259836"/>
            <a:ext cx="4572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0">
                <a:solidFill>
                  <a:srgbClr val="F96167"/>
                </a:solidFill>
                <a:latin typeface="Calibri"/>
              </a:rPr>
              <a:t>SQL</a:t>
            </a:r>
          </a:p>
        </p:txBody>
      </p:sp>
      <p:sp>
        <p:nvSpPr>
          <p:cNvPr id="27" name="Diagram ingress"/>
          <p:cNvSpPr/>
          <p:nvPr/>
        </p:nvSpPr>
        <p:spPr>
          <a:xfrm>
            <a:off x="804672" y="1938528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Ingress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risk.agents.test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545336" y="2505456"/>
            <a:ext cx="0" cy="420624"/>
          </a:xfrm>
          <a:prstGeom prst="line">
            <a:avLst/>
          </a:prstGeom>
          <a:ln w="25400">
            <a:solidFill>
              <a:srgbClr val="F961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iagram outside note"/>
          <p:cNvSpPr txBox="1"/>
          <p:nvPr/>
        </p:nvSpPr>
        <p:spPr>
          <a:xfrm>
            <a:off x="2697480" y="2029968"/>
            <a:ext cx="36576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6B7192"/>
                </a:solidFill>
                <a:latin typeface="Calibri"/>
              </a:rPr>
              <a:t>снаружи: ноутбук, браузер, другие системы</a:t>
            </a:r>
          </a:p>
        </p:txBody>
      </p:sp>
      <p:sp>
        <p:nvSpPr>
          <p:cNvPr id="30" name="Diagram config"/>
          <p:cNvSpPr/>
          <p:nvPr/>
        </p:nvSpPr>
        <p:spPr>
          <a:xfrm>
            <a:off x="804672" y="4709160"/>
            <a:ext cx="5358384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9C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0">
                <a:solidFill>
                  <a:srgbClr val="21295C"/>
                </a:solidFill>
                <a:latin typeface="Calibri"/>
              </a:rPr>
              <a:t>ConfigMap agents-config: модель и адреса агентов</a:t>
            </a:r>
          </a:p>
          <a:p>
            <a:pPr algn="ctr"/>
            <a:r>
              <a:rPr sz="1100" b="0">
                <a:solidFill>
                  <a:srgbClr val="21295C"/>
                </a:solidFill>
                <a:latin typeface="Calibri"/>
              </a:rPr>
              <a:t>Secret llm-secret: ключ OpenRouter</a:t>
            </a:r>
          </a:p>
        </p:txBody>
      </p:sp>
      <p:sp>
        <p:nvSpPr>
          <p:cNvPr id="31" name="Diagram seed job"/>
          <p:cNvSpPr/>
          <p:nvPr/>
        </p:nvSpPr>
        <p:spPr>
          <a:xfrm>
            <a:off x="6620256" y="4709160"/>
            <a:ext cx="148132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9C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21295C"/>
                </a:solidFill>
                <a:latin typeface="Calibri"/>
              </a:rPr>
              <a:t>Job bank-seed</a:t>
            </a:r>
          </a:p>
          <a:p>
            <a:pPr algn="ctr"/>
            <a:r>
              <a:rPr sz="1100" b="0">
                <a:solidFill>
                  <a:srgbClr val="21295C"/>
                </a:solidFill>
                <a:latin typeface="Calibri"/>
              </a:rPr>
              <a:t>загружает датасет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7360920" y="4251960"/>
            <a:ext cx="0" cy="457200"/>
          </a:xfrm>
          <a:prstGeom prst="line">
            <a:avLst/>
          </a:prstGeom>
          <a:ln w="25400">
            <a:solidFill>
              <a:srgbClr val="6B71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ГРАБЛИ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ломается, когда агентов становится много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627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это мы поймали при подготовке занятия — на этом же кластере: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24231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30632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MCP-сессии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Сессия живёт в одной реплике: 18 из 20 вызовов падали. Лечит stateless_http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55848" y="21488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11880" y="24231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118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93592" y="30632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Память в поде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11880" y="352044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каждой реплики своя память — разговор «теряется». Лечит Postgres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44768" y="21488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0" y="24231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82512" y="30632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Долгие запросы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0" y="352044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убивают через 30 с, а агент думает дольше — даём 120 с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33688" y="21488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89720" y="24231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18972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71432" y="30632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≠ нагрузка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89720" y="352044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Агенты ждут LLM, CPU ≈ 0: HPA по CPU не поможет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4800600"/>
            <a:ext cx="11055096" cy="123444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68680" y="50749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68680" y="502920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1828800" y="50292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Поды одноразовые.  </a:t>
            </a:r>
            <a:r>
              <a:rPr lang="en-US" sz="1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Всё, что должно их пережить,  </a:t>
            </a:r>
            <a:r>
              <a:rPr lang="en-US" sz="150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память агентов, файлы, сессии — храним вне пода: в базе, на томе, в кэше.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Занятие 4  ·  AI-агенты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Поднимаем учебный кластер minikube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943600" cy="4160520"/>
          </a:xfrm>
          <a:prstGeom prst="roundRect">
            <a:avLst>
              <a:gd name="adj" fmla="val 1758"/>
            </a:avLst>
          </a:prstGeom>
          <a:solidFill>
            <a:srgbClr val="1A1F40"/>
          </a:solidFill>
          <a:ln/>
          <a:effectLst>
            <a:outerShdw blurRad="152400" dist="38100" dir="5400000" algn="bl" rotWithShape="0">
              <a:srgbClr val="20264F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68096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32688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97280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89888" y="18013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 setup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14884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ноды на QEMU (macOS), сеть — socket_vmnet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minikube start --driver qemu --network socket_vmnet \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--nodes 3 --cpus 2 --memory 4g --disk-size 20g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аддоны и образы агентов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minikube addons enable ingress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minikube addons enable metrics-server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minikube image build --all -t bank-agents:1 images/agents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через Makefile проекта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setup &amp;&amp; make images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hosts    # *.agents.test → IP кластера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E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ключ LLM — в Secret, агенты — в кластер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secret   # OPENROUTER_API_KEY из .env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apply -f part_6_agents/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pods -o wide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20840" y="1691640"/>
            <a:ext cx="48920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995160" y="19476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происходит при setup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95160" y="259689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251192" y="248716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ноды  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один minikube эмулирует полноценный многонодовый кластер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95160" y="33924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251192" y="328269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ingress  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поднимается nginx Ingress-контроллер для внешнего доступа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95160" y="41879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251192" y="407822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metrics-server  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источник метрик CPU/RAM для kubectl top и автоскейла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95160" y="4983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251192" y="487375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/etc/hosts  </a:t>
            </a: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домены *.agents.test → IP minikube; с socket_vmnet туннель не нужен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Занятие 4  ·  AI-агенты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Сценарий занятия: от пода к мультиагентной системе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1055096" cy="987552"/>
          </a:xfrm>
          <a:prstGeom prst="roundRect">
            <a:avLst>
              <a:gd name="adj" fmla="val 8333"/>
            </a:avLst>
          </a:prstGeom>
          <a:solidFill>
            <a:srgbClr val="ECEEF7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1984248"/>
            <a:ext cx="1234440" cy="585216"/>
          </a:xfrm>
          <a:prstGeom prst="roundRect">
            <a:avLst>
              <a:gd name="adj" fmla="val 15625"/>
            </a:avLst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984248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Части 1–4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40280" y="1929384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Основы на hello-agent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57800" y="1892808"/>
            <a:ext cx="6172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Поды и сеть, Service и Ingress, ReplicaSet и Deployment: самовосстановление, обновление v1 → v2 и откат, nodeSelector; ConfigMap и Secret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898648"/>
            <a:ext cx="11055096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3099816"/>
            <a:ext cx="1234440" cy="585216"/>
          </a:xfrm>
          <a:prstGeom prst="roundRect">
            <a:avLst>
              <a:gd name="adj" fmla="val 15625"/>
            </a:avLst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3099816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Часть 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40280" y="304495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База в кластере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57800" y="3008376"/>
            <a:ext cx="6172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PersistentVolumeClaim и Postgres, init.sql из ConfigMap, Job загрузки датасета с initContainer — данные переживают перезапуск пода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014216"/>
            <a:ext cx="11055096" cy="987552"/>
          </a:xfrm>
          <a:prstGeom prst="roundRect">
            <a:avLst>
              <a:gd name="adj" fmla="val 8333"/>
            </a:avLst>
          </a:prstGeom>
          <a:solidFill>
            <a:srgbClr val="ECEEF7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77240" y="4215384"/>
            <a:ext cx="1234440" cy="585216"/>
          </a:xfrm>
          <a:prstGeom prst="roundRect">
            <a:avLst>
              <a:gd name="adj" fmla="val 15625"/>
            </a:avLst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4215384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Часть 6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240280" y="416052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Мультиагентная система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57800" y="4123944"/>
            <a:ext cx="6172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MCP-сервер, аналитик и риск-менеджер: Deployment + Service, startup/readiness/liveness-пробы; снаружи — только риск-менеджер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129784"/>
            <a:ext cx="11055096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77240" y="5330952"/>
            <a:ext cx="1234440" cy="585216"/>
          </a:xfrm>
          <a:prstGeom prst="roundRect">
            <a:avLst>
              <a:gd name="adj" fmla="val 15625"/>
            </a:avLst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77240" y="5330952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Часть 7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240280" y="527608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Масштабирование и состояние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57800" y="5239512"/>
            <a:ext cx="6172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аналитика одной командой; риск-менеджер на 2 репликах «забывает» — память в Postgres. Бонус: CronJob, HPA, DaemonSet, Grafana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Занятие 4  ·  AI-агенты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28800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80160" y="179222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МАНИФЕСТЫ?  МАНИФЕСТЫ!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3337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Разбираем YAML-манифесты и применяем их в кластере, шаг за шагом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160520"/>
            <a:ext cx="4572000" cy="594360"/>
          </a:xfrm>
          <a:prstGeom prst="roundRect">
            <a:avLst>
              <a:gd name="adj" fmla="val 15385"/>
            </a:avLst>
          </a:prstGeom>
          <a:solidFill>
            <a:srgbClr val="161B3D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43000" y="4398264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17320" y="41605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0" y="4160520"/>
            <a:ext cx="4572000" cy="594360"/>
          </a:xfrm>
          <a:prstGeom prst="roundRect">
            <a:avLst>
              <a:gd name="adj" fmla="val 15385"/>
            </a:avLst>
          </a:prstGeom>
          <a:solidFill>
            <a:srgbClr val="161B3D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989320" y="4398264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63640" y="41605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 -o wide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4937760"/>
            <a:ext cx="4572000" cy="594360"/>
          </a:xfrm>
          <a:prstGeom prst="roundRect">
            <a:avLst>
              <a:gd name="adj" fmla="val 15385"/>
            </a:avLst>
          </a:prstGeom>
          <a:solidFill>
            <a:srgbClr val="161B3D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43000" y="5175504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417320" y="49377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logs -f -l app=analyst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60720" y="4937760"/>
            <a:ext cx="4572000" cy="594360"/>
          </a:xfrm>
          <a:prstGeom prst="roundRect">
            <a:avLst>
              <a:gd name="adj" fmla="val 15385"/>
            </a:avLst>
          </a:prstGeom>
          <a:solidFill>
            <a:srgbClr val="161B3D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89320" y="5175504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63640" y="49377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D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scale … --replicas=4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Итоги: Kubernetes для агентов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3584448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084832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44168" y="204825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606040"/>
            <a:ext cx="303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= Deployment: реплики, самовосстановление, обновление и откат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584448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53712" y="2084832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74920" y="204825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2606040"/>
            <a:ext cx="303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постоянный адрес и балансировка: агенты находят друг друга по имени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28432" y="1828800"/>
            <a:ext cx="3584448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284464" y="2084832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805672" y="204825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Ingress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02752" y="2606040"/>
            <a:ext cx="303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снаружи — только для агентов, которым он нужен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3785616"/>
            <a:ext cx="3584448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2960" y="4041648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344168" y="400507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ConfigMap / Secret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1248" y="4562856"/>
            <a:ext cx="303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и адреса — в ConfigMap, ключ LLM — в Secret, а не в образе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97680" y="3785616"/>
            <a:ext cx="3584448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553712" y="4041648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074920" y="400507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PVC · Job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572000" y="4562856"/>
            <a:ext cx="303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на томе переживают под; Job — разовые задачи вроде загрузки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28432" y="3785616"/>
            <a:ext cx="3584448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0264F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284464" y="4041648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805672" y="400507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Состояние — вне пода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302752" y="4562856"/>
            <a:ext cx="303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 агентов — в базе: тогда агентов можно масштабировать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·  Занятие 4  ·  AI-агенты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1979</Words>
  <Application>Microsoft Macintosh PowerPoint</Application>
  <PresentationFormat>Widescreen</PresentationFormat>
  <Paragraphs>384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— Лекция 1.5 (LLMOps)</dc:title>
  <dc:subject>PptxGenJS Presentation</dc:subject>
  <dc:creator>Чернов Евгений</dc:creator>
  <cp:lastModifiedBy>Evgeniy Chernov</cp:lastModifiedBy>
  <cp:revision>2</cp:revision>
  <dcterms:created xsi:type="dcterms:W3CDTF">2026-07-03T15:25:30Z</dcterms:created>
  <dcterms:modified xsi:type="dcterms:W3CDTF">2026-07-03T15:29:20Z</dcterms:modified>
</cp:coreProperties>
</file>